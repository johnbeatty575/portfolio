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4248"/>
    <a:srgbClr val="156250"/>
    <a:srgbClr val="D5647A"/>
    <a:srgbClr val="007EB4"/>
    <a:srgbClr val="00B050"/>
    <a:srgbClr val="FF9527"/>
    <a:srgbClr val="003DA6"/>
    <a:srgbClr val="538776"/>
    <a:srgbClr val="5E727C"/>
    <a:srgbClr val="00EA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99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F1260C-AA87-4E16-93E1-C9AD4C5EAE86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7BDABE1-CA6B-4272-81EF-2A4EBBD42123}">
      <dgm:prSet phldrT="[Text]"/>
      <dgm:spPr/>
      <dgm:t>
        <a:bodyPr/>
        <a:lstStyle/>
        <a:p>
          <a:r>
            <a:rPr lang="en-US" dirty="0"/>
            <a:t>Identify</a:t>
          </a:r>
        </a:p>
      </dgm:t>
    </dgm:pt>
    <dgm:pt modelId="{80304633-3D05-45C7-9C34-1599E4FC727C}" type="parTrans" cxnId="{E9C2354D-77EC-40EE-8605-500FF76EDF73}">
      <dgm:prSet/>
      <dgm:spPr/>
      <dgm:t>
        <a:bodyPr/>
        <a:lstStyle/>
        <a:p>
          <a:endParaRPr lang="en-US"/>
        </a:p>
      </dgm:t>
    </dgm:pt>
    <dgm:pt modelId="{9D43EBFF-EBEC-4562-A96B-B2816D7E7DC0}" type="sibTrans" cxnId="{E9C2354D-77EC-40EE-8605-500FF76EDF73}">
      <dgm:prSet/>
      <dgm:spPr/>
      <dgm:t>
        <a:bodyPr/>
        <a:lstStyle/>
        <a:p>
          <a:endParaRPr lang="en-US"/>
        </a:p>
      </dgm:t>
    </dgm:pt>
    <dgm:pt modelId="{B8204D3E-9C20-42AD-9267-721C22C03A0D}">
      <dgm:prSet phldrT="[Text]"/>
      <dgm:spPr/>
      <dgm:t>
        <a:bodyPr/>
        <a:lstStyle/>
        <a:p>
          <a:r>
            <a:rPr lang="en-US" dirty="0"/>
            <a:t>Protect</a:t>
          </a:r>
        </a:p>
      </dgm:t>
    </dgm:pt>
    <dgm:pt modelId="{E49B4739-E32A-4716-8197-FA94F8F77675}" type="parTrans" cxnId="{B11DFAC0-C4C7-4489-9CF1-8DDFAE169B1D}">
      <dgm:prSet/>
      <dgm:spPr/>
      <dgm:t>
        <a:bodyPr/>
        <a:lstStyle/>
        <a:p>
          <a:endParaRPr lang="en-US"/>
        </a:p>
      </dgm:t>
    </dgm:pt>
    <dgm:pt modelId="{17E79A35-3944-46E0-AC2E-CA48A12DAF9C}" type="sibTrans" cxnId="{B11DFAC0-C4C7-4489-9CF1-8DDFAE169B1D}">
      <dgm:prSet/>
      <dgm:spPr/>
      <dgm:t>
        <a:bodyPr/>
        <a:lstStyle/>
        <a:p>
          <a:endParaRPr lang="en-US"/>
        </a:p>
      </dgm:t>
    </dgm:pt>
    <dgm:pt modelId="{D8A1DE77-09D7-4E97-94E7-23ADA325C774}">
      <dgm:prSet phldrT="[Text]"/>
      <dgm:spPr/>
      <dgm:t>
        <a:bodyPr/>
        <a:lstStyle/>
        <a:p>
          <a:r>
            <a:rPr lang="en-US" dirty="0"/>
            <a:t>Detect</a:t>
          </a:r>
        </a:p>
      </dgm:t>
    </dgm:pt>
    <dgm:pt modelId="{B6E2E32F-B6D4-4FE5-9577-366D7A092C35}" type="parTrans" cxnId="{F6D467A0-C0B7-4BC4-B67B-BE0AC1071842}">
      <dgm:prSet/>
      <dgm:spPr/>
      <dgm:t>
        <a:bodyPr/>
        <a:lstStyle/>
        <a:p>
          <a:endParaRPr lang="en-US"/>
        </a:p>
      </dgm:t>
    </dgm:pt>
    <dgm:pt modelId="{5D4608EE-21F6-40AC-A21C-0B28F4AB47F4}" type="sibTrans" cxnId="{F6D467A0-C0B7-4BC4-B67B-BE0AC1071842}">
      <dgm:prSet/>
      <dgm:spPr/>
      <dgm:t>
        <a:bodyPr/>
        <a:lstStyle/>
        <a:p>
          <a:endParaRPr lang="en-US"/>
        </a:p>
      </dgm:t>
    </dgm:pt>
    <dgm:pt modelId="{2CA643A5-DEB2-41D8-A3F9-85B5B56577C0}">
      <dgm:prSet phldrT="[Text]"/>
      <dgm:spPr/>
      <dgm:t>
        <a:bodyPr/>
        <a:lstStyle/>
        <a:p>
          <a:r>
            <a:rPr lang="en-US" dirty="0"/>
            <a:t>Respond</a:t>
          </a:r>
        </a:p>
      </dgm:t>
    </dgm:pt>
    <dgm:pt modelId="{84B0AB46-4643-4FCE-A6AC-722CA1E5C3F4}" type="parTrans" cxnId="{FB147C95-4EB9-47E9-9F69-9A578585A6C7}">
      <dgm:prSet/>
      <dgm:spPr/>
      <dgm:t>
        <a:bodyPr/>
        <a:lstStyle/>
        <a:p>
          <a:endParaRPr lang="en-US"/>
        </a:p>
      </dgm:t>
    </dgm:pt>
    <dgm:pt modelId="{CE4EDDA9-111E-40E1-86B7-DAF1D2F421D1}" type="sibTrans" cxnId="{FB147C95-4EB9-47E9-9F69-9A578585A6C7}">
      <dgm:prSet/>
      <dgm:spPr/>
      <dgm:t>
        <a:bodyPr/>
        <a:lstStyle/>
        <a:p>
          <a:endParaRPr lang="en-US"/>
        </a:p>
      </dgm:t>
    </dgm:pt>
    <dgm:pt modelId="{3A7024CE-1899-44EE-9D55-61BE3F7C55E0}">
      <dgm:prSet phldrT="[Text]"/>
      <dgm:spPr/>
      <dgm:t>
        <a:bodyPr/>
        <a:lstStyle/>
        <a:p>
          <a:r>
            <a:rPr lang="en-US" dirty="0"/>
            <a:t>Recover</a:t>
          </a:r>
        </a:p>
      </dgm:t>
    </dgm:pt>
    <dgm:pt modelId="{C31942CE-CE37-40E1-AB2B-E4E1F8005FE7}" type="parTrans" cxnId="{24C68EDB-C78B-40DD-932D-DAB31D5425B4}">
      <dgm:prSet/>
      <dgm:spPr/>
      <dgm:t>
        <a:bodyPr/>
        <a:lstStyle/>
        <a:p>
          <a:endParaRPr lang="en-US"/>
        </a:p>
      </dgm:t>
    </dgm:pt>
    <dgm:pt modelId="{FE9C6032-5BB8-4962-AA15-700697F2A6E0}" type="sibTrans" cxnId="{24C68EDB-C78B-40DD-932D-DAB31D5425B4}">
      <dgm:prSet/>
      <dgm:spPr/>
      <dgm:t>
        <a:bodyPr/>
        <a:lstStyle/>
        <a:p>
          <a:endParaRPr lang="en-US"/>
        </a:p>
      </dgm:t>
    </dgm:pt>
    <dgm:pt modelId="{D108C11C-7687-441A-979B-0A9FF60DA3B0}" type="pres">
      <dgm:prSet presAssocID="{3EF1260C-AA87-4E16-93E1-C9AD4C5EAE86}" presName="Name0" presStyleCnt="0">
        <dgm:presLayoutVars>
          <dgm:dir/>
          <dgm:resizeHandles val="exact"/>
        </dgm:presLayoutVars>
      </dgm:prSet>
      <dgm:spPr/>
    </dgm:pt>
    <dgm:pt modelId="{B5530226-C72B-4E66-9F25-E688EE747EF1}" type="pres">
      <dgm:prSet presAssocID="{3EF1260C-AA87-4E16-93E1-C9AD4C5EAE86}" presName="arrow" presStyleLbl="bgShp" presStyleIdx="0" presStyleCnt="1"/>
      <dgm:spPr>
        <a:gradFill rotWithShape="0">
          <a:gsLst>
            <a:gs pos="21000">
              <a:srgbClr val="FF9527"/>
            </a:gs>
            <a:gs pos="80000">
              <a:srgbClr val="00B050"/>
            </a:gs>
          </a:gsLst>
          <a:lin ang="0" scaled="0"/>
        </a:gradFill>
        <a:ln>
          <a:noFill/>
        </a:ln>
        <a:effectLst>
          <a:outerShdw blurRad="101600" dist="114300" dir="10200000" algn="t" rotWithShape="0">
            <a:prstClr val="black">
              <a:alpha val="40000"/>
            </a:prstClr>
          </a:outerShdw>
        </a:effectLst>
      </dgm:spPr>
    </dgm:pt>
    <dgm:pt modelId="{7DB1A8A5-BDB4-4194-814B-BDAB6F0D0ADF}" type="pres">
      <dgm:prSet presAssocID="{3EF1260C-AA87-4E16-93E1-C9AD4C5EAE86}" presName="points" presStyleCnt="0"/>
      <dgm:spPr/>
    </dgm:pt>
    <dgm:pt modelId="{9CFDBCE7-051F-4228-B899-016841111398}" type="pres">
      <dgm:prSet presAssocID="{D7BDABE1-CA6B-4272-81EF-2A4EBBD42123}" presName="compositeA" presStyleCnt="0"/>
      <dgm:spPr/>
    </dgm:pt>
    <dgm:pt modelId="{2EC04BD6-B547-4E06-A1EF-112D01D38121}" type="pres">
      <dgm:prSet presAssocID="{D7BDABE1-CA6B-4272-81EF-2A4EBBD42123}" presName="textA" presStyleLbl="revTx" presStyleIdx="0" presStyleCnt="5">
        <dgm:presLayoutVars>
          <dgm:bulletEnabled val="1"/>
        </dgm:presLayoutVars>
      </dgm:prSet>
      <dgm:spPr/>
    </dgm:pt>
    <dgm:pt modelId="{64089A85-30DF-4CAB-A779-9A54938911A8}" type="pres">
      <dgm:prSet presAssocID="{D7BDABE1-CA6B-4272-81EF-2A4EBBD42123}" presName="circleA" presStyleLbl="node1" presStyleIdx="0" presStyleCnt="5"/>
      <dgm:spPr>
        <a:solidFill>
          <a:srgbClr val="FFDC8F"/>
        </a:solidFill>
      </dgm:spPr>
    </dgm:pt>
    <dgm:pt modelId="{A1C165DC-8B3F-4A86-8EA7-8A34DA4994F1}" type="pres">
      <dgm:prSet presAssocID="{D7BDABE1-CA6B-4272-81EF-2A4EBBD42123}" presName="spaceA" presStyleCnt="0"/>
      <dgm:spPr/>
    </dgm:pt>
    <dgm:pt modelId="{67074ED5-5073-47C4-A5D8-922D513D1154}" type="pres">
      <dgm:prSet presAssocID="{9D43EBFF-EBEC-4562-A96B-B2816D7E7DC0}" presName="space" presStyleCnt="0"/>
      <dgm:spPr/>
    </dgm:pt>
    <dgm:pt modelId="{2467BE71-F896-4A4F-B076-DACFCE454B36}" type="pres">
      <dgm:prSet presAssocID="{B8204D3E-9C20-42AD-9267-721C22C03A0D}" presName="compositeB" presStyleCnt="0"/>
      <dgm:spPr/>
    </dgm:pt>
    <dgm:pt modelId="{3324FC26-DCB6-4792-934A-1C261883B17B}" type="pres">
      <dgm:prSet presAssocID="{B8204D3E-9C20-42AD-9267-721C22C03A0D}" presName="textB" presStyleLbl="revTx" presStyleIdx="1" presStyleCnt="5">
        <dgm:presLayoutVars>
          <dgm:bulletEnabled val="1"/>
        </dgm:presLayoutVars>
      </dgm:prSet>
      <dgm:spPr/>
    </dgm:pt>
    <dgm:pt modelId="{CD5BA655-3882-41E2-8374-96402E8991F0}" type="pres">
      <dgm:prSet presAssocID="{B8204D3E-9C20-42AD-9267-721C22C03A0D}" presName="circleB" presStyleLbl="node1" presStyleIdx="1" presStyleCnt="5"/>
      <dgm:spPr>
        <a:solidFill>
          <a:srgbClr val="01B0FF"/>
        </a:solidFill>
      </dgm:spPr>
    </dgm:pt>
    <dgm:pt modelId="{515FB82C-4C27-4EC1-B6C2-0AF681CC11B4}" type="pres">
      <dgm:prSet presAssocID="{B8204D3E-9C20-42AD-9267-721C22C03A0D}" presName="spaceB" presStyleCnt="0"/>
      <dgm:spPr/>
    </dgm:pt>
    <dgm:pt modelId="{DB6495E1-DD37-4182-A98F-061BBA48EAB8}" type="pres">
      <dgm:prSet presAssocID="{17E79A35-3944-46E0-AC2E-CA48A12DAF9C}" presName="space" presStyleCnt="0"/>
      <dgm:spPr/>
    </dgm:pt>
    <dgm:pt modelId="{DD957126-2B53-4E0A-880E-0F8B27D429D0}" type="pres">
      <dgm:prSet presAssocID="{D8A1DE77-09D7-4E97-94E7-23ADA325C774}" presName="compositeA" presStyleCnt="0"/>
      <dgm:spPr/>
    </dgm:pt>
    <dgm:pt modelId="{3608C52B-1395-483B-B2AB-D4B3EC37E4E9}" type="pres">
      <dgm:prSet presAssocID="{D8A1DE77-09D7-4E97-94E7-23ADA325C774}" presName="textA" presStyleLbl="revTx" presStyleIdx="2" presStyleCnt="5">
        <dgm:presLayoutVars>
          <dgm:bulletEnabled val="1"/>
        </dgm:presLayoutVars>
      </dgm:prSet>
      <dgm:spPr/>
    </dgm:pt>
    <dgm:pt modelId="{82DC3443-1254-489A-A23A-0F3C822D1B58}" type="pres">
      <dgm:prSet presAssocID="{D8A1DE77-09D7-4E97-94E7-23ADA325C774}" presName="circleA" presStyleLbl="node1" presStyleIdx="2" presStyleCnt="5"/>
      <dgm:spPr>
        <a:solidFill>
          <a:srgbClr val="FF9527"/>
        </a:solidFill>
      </dgm:spPr>
    </dgm:pt>
    <dgm:pt modelId="{79329E61-356A-4588-87D3-9BC2BFB0B0B0}" type="pres">
      <dgm:prSet presAssocID="{D8A1DE77-09D7-4E97-94E7-23ADA325C774}" presName="spaceA" presStyleCnt="0"/>
      <dgm:spPr/>
    </dgm:pt>
    <dgm:pt modelId="{885CABC4-3B9E-4196-89A4-6D437FC3DDF8}" type="pres">
      <dgm:prSet presAssocID="{5D4608EE-21F6-40AC-A21C-0B28F4AB47F4}" presName="space" presStyleCnt="0"/>
      <dgm:spPr/>
    </dgm:pt>
    <dgm:pt modelId="{A1127B68-8C73-4A42-8D33-101C601966B7}" type="pres">
      <dgm:prSet presAssocID="{2CA643A5-DEB2-41D8-A3F9-85B5B56577C0}" presName="compositeB" presStyleCnt="0"/>
      <dgm:spPr/>
    </dgm:pt>
    <dgm:pt modelId="{7550F96B-3B54-430A-B7A0-AFC129335CE4}" type="pres">
      <dgm:prSet presAssocID="{2CA643A5-DEB2-41D8-A3F9-85B5B56577C0}" presName="textB" presStyleLbl="revTx" presStyleIdx="3" presStyleCnt="5">
        <dgm:presLayoutVars>
          <dgm:bulletEnabled val="1"/>
        </dgm:presLayoutVars>
      </dgm:prSet>
      <dgm:spPr/>
    </dgm:pt>
    <dgm:pt modelId="{B3829730-A7E2-44D3-9664-1B0981C935F3}" type="pres">
      <dgm:prSet presAssocID="{2CA643A5-DEB2-41D8-A3F9-85B5B56577C0}" presName="circleB" presStyleLbl="node1" presStyleIdx="3" presStyleCnt="5"/>
      <dgm:spPr>
        <a:solidFill>
          <a:srgbClr val="C00000"/>
        </a:solidFill>
      </dgm:spPr>
    </dgm:pt>
    <dgm:pt modelId="{1F55AE63-D0ED-4A3A-B6FD-957166AA6E0D}" type="pres">
      <dgm:prSet presAssocID="{2CA643A5-DEB2-41D8-A3F9-85B5B56577C0}" presName="spaceB" presStyleCnt="0"/>
      <dgm:spPr/>
    </dgm:pt>
    <dgm:pt modelId="{A7FA72C3-8BD7-4D1C-BC87-3987B7AF87E8}" type="pres">
      <dgm:prSet presAssocID="{CE4EDDA9-111E-40E1-86B7-DAF1D2F421D1}" presName="space" presStyleCnt="0"/>
      <dgm:spPr/>
    </dgm:pt>
    <dgm:pt modelId="{A42DF37B-FB3C-4948-94D7-76134634DFCF}" type="pres">
      <dgm:prSet presAssocID="{3A7024CE-1899-44EE-9D55-61BE3F7C55E0}" presName="compositeA" presStyleCnt="0"/>
      <dgm:spPr/>
    </dgm:pt>
    <dgm:pt modelId="{946CD886-159B-41B9-91A2-D658F65D38BB}" type="pres">
      <dgm:prSet presAssocID="{3A7024CE-1899-44EE-9D55-61BE3F7C55E0}" presName="textA" presStyleLbl="revTx" presStyleIdx="4" presStyleCnt="5">
        <dgm:presLayoutVars>
          <dgm:bulletEnabled val="1"/>
        </dgm:presLayoutVars>
      </dgm:prSet>
      <dgm:spPr/>
    </dgm:pt>
    <dgm:pt modelId="{FA52A7B3-7327-4065-8CF4-EBCD30B79467}" type="pres">
      <dgm:prSet presAssocID="{3A7024CE-1899-44EE-9D55-61BE3F7C55E0}" presName="circleA" presStyleLbl="node1" presStyleIdx="4" presStyleCnt="5"/>
      <dgm:spPr>
        <a:solidFill>
          <a:srgbClr val="00EA6A"/>
        </a:solidFill>
      </dgm:spPr>
    </dgm:pt>
    <dgm:pt modelId="{91F23D63-767B-4FAF-8698-4BF71C4A3B00}" type="pres">
      <dgm:prSet presAssocID="{3A7024CE-1899-44EE-9D55-61BE3F7C55E0}" presName="spaceA" presStyleCnt="0"/>
      <dgm:spPr/>
    </dgm:pt>
  </dgm:ptLst>
  <dgm:cxnLst>
    <dgm:cxn modelId="{230F4F36-78A4-4643-A092-4258FB45CC35}" type="presOf" srcId="{D7BDABE1-CA6B-4272-81EF-2A4EBBD42123}" destId="{2EC04BD6-B547-4E06-A1EF-112D01D38121}" srcOrd="0" destOrd="0" presId="urn:microsoft.com/office/officeart/2005/8/layout/hProcess11"/>
    <dgm:cxn modelId="{E9C2354D-77EC-40EE-8605-500FF76EDF73}" srcId="{3EF1260C-AA87-4E16-93E1-C9AD4C5EAE86}" destId="{D7BDABE1-CA6B-4272-81EF-2A4EBBD42123}" srcOrd="0" destOrd="0" parTransId="{80304633-3D05-45C7-9C34-1599E4FC727C}" sibTransId="{9D43EBFF-EBEC-4562-A96B-B2816D7E7DC0}"/>
    <dgm:cxn modelId="{400ADB8D-1868-453C-B7A6-D96661C5DC1E}" type="presOf" srcId="{2CA643A5-DEB2-41D8-A3F9-85B5B56577C0}" destId="{7550F96B-3B54-430A-B7A0-AFC129335CE4}" srcOrd="0" destOrd="0" presId="urn:microsoft.com/office/officeart/2005/8/layout/hProcess11"/>
    <dgm:cxn modelId="{FB147C95-4EB9-47E9-9F69-9A578585A6C7}" srcId="{3EF1260C-AA87-4E16-93E1-C9AD4C5EAE86}" destId="{2CA643A5-DEB2-41D8-A3F9-85B5B56577C0}" srcOrd="3" destOrd="0" parTransId="{84B0AB46-4643-4FCE-A6AC-722CA1E5C3F4}" sibTransId="{CE4EDDA9-111E-40E1-86B7-DAF1D2F421D1}"/>
    <dgm:cxn modelId="{04296A97-1D82-4A56-9A54-BDBBAFE21AC6}" type="presOf" srcId="{3EF1260C-AA87-4E16-93E1-C9AD4C5EAE86}" destId="{D108C11C-7687-441A-979B-0A9FF60DA3B0}" srcOrd="0" destOrd="0" presId="urn:microsoft.com/office/officeart/2005/8/layout/hProcess11"/>
    <dgm:cxn modelId="{F6D467A0-C0B7-4BC4-B67B-BE0AC1071842}" srcId="{3EF1260C-AA87-4E16-93E1-C9AD4C5EAE86}" destId="{D8A1DE77-09D7-4E97-94E7-23ADA325C774}" srcOrd="2" destOrd="0" parTransId="{B6E2E32F-B6D4-4FE5-9577-366D7A092C35}" sibTransId="{5D4608EE-21F6-40AC-A21C-0B28F4AB47F4}"/>
    <dgm:cxn modelId="{55E8CEB4-0F8E-4E6F-9D4B-847B57CB01E5}" type="presOf" srcId="{D8A1DE77-09D7-4E97-94E7-23ADA325C774}" destId="{3608C52B-1395-483B-B2AB-D4B3EC37E4E9}" srcOrd="0" destOrd="0" presId="urn:microsoft.com/office/officeart/2005/8/layout/hProcess11"/>
    <dgm:cxn modelId="{B11DFAC0-C4C7-4489-9CF1-8DDFAE169B1D}" srcId="{3EF1260C-AA87-4E16-93E1-C9AD4C5EAE86}" destId="{B8204D3E-9C20-42AD-9267-721C22C03A0D}" srcOrd="1" destOrd="0" parTransId="{E49B4739-E32A-4716-8197-FA94F8F77675}" sibTransId="{17E79A35-3944-46E0-AC2E-CA48A12DAF9C}"/>
    <dgm:cxn modelId="{48A693CF-E92E-4EA5-9D2E-6DAD1B0D83CD}" type="presOf" srcId="{3A7024CE-1899-44EE-9D55-61BE3F7C55E0}" destId="{946CD886-159B-41B9-91A2-D658F65D38BB}" srcOrd="0" destOrd="0" presId="urn:microsoft.com/office/officeart/2005/8/layout/hProcess11"/>
    <dgm:cxn modelId="{24C68EDB-C78B-40DD-932D-DAB31D5425B4}" srcId="{3EF1260C-AA87-4E16-93E1-C9AD4C5EAE86}" destId="{3A7024CE-1899-44EE-9D55-61BE3F7C55E0}" srcOrd="4" destOrd="0" parTransId="{C31942CE-CE37-40E1-AB2B-E4E1F8005FE7}" sibTransId="{FE9C6032-5BB8-4962-AA15-700697F2A6E0}"/>
    <dgm:cxn modelId="{29A793F8-0B9C-466F-9B71-87DC20089966}" type="presOf" srcId="{B8204D3E-9C20-42AD-9267-721C22C03A0D}" destId="{3324FC26-DCB6-4792-934A-1C261883B17B}" srcOrd="0" destOrd="0" presId="urn:microsoft.com/office/officeart/2005/8/layout/hProcess11"/>
    <dgm:cxn modelId="{2CC13482-B975-4870-85D8-B8034AA67EB3}" type="presParOf" srcId="{D108C11C-7687-441A-979B-0A9FF60DA3B0}" destId="{B5530226-C72B-4E66-9F25-E688EE747EF1}" srcOrd="0" destOrd="0" presId="urn:microsoft.com/office/officeart/2005/8/layout/hProcess11"/>
    <dgm:cxn modelId="{6AA3BAF6-464C-406A-B995-FB2ADE0BF5A7}" type="presParOf" srcId="{D108C11C-7687-441A-979B-0A9FF60DA3B0}" destId="{7DB1A8A5-BDB4-4194-814B-BDAB6F0D0ADF}" srcOrd="1" destOrd="0" presId="urn:microsoft.com/office/officeart/2005/8/layout/hProcess11"/>
    <dgm:cxn modelId="{467BC9EC-BE71-44F2-B629-668376312006}" type="presParOf" srcId="{7DB1A8A5-BDB4-4194-814B-BDAB6F0D0ADF}" destId="{9CFDBCE7-051F-4228-B899-016841111398}" srcOrd="0" destOrd="0" presId="urn:microsoft.com/office/officeart/2005/8/layout/hProcess11"/>
    <dgm:cxn modelId="{9BE71956-F77D-4C6A-AE04-D3E3D1EC5BC7}" type="presParOf" srcId="{9CFDBCE7-051F-4228-B899-016841111398}" destId="{2EC04BD6-B547-4E06-A1EF-112D01D38121}" srcOrd="0" destOrd="0" presId="urn:microsoft.com/office/officeart/2005/8/layout/hProcess11"/>
    <dgm:cxn modelId="{DEFE9A2B-91F6-4B82-8D8F-1927A32F320E}" type="presParOf" srcId="{9CFDBCE7-051F-4228-B899-016841111398}" destId="{64089A85-30DF-4CAB-A779-9A54938911A8}" srcOrd="1" destOrd="0" presId="urn:microsoft.com/office/officeart/2005/8/layout/hProcess11"/>
    <dgm:cxn modelId="{7D45C302-224F-484A-988B-2DE64E2E0527}" type="presParOf" srcId="{9CFDBCE7-051F-4228-B899-016841111398}" destId="{A1C165DC-8B3F-4A86-8EA7-8A34DA4994F1}" srcOrd="2" destOrd="0" presId="urn:microsoft.com/office/officeart/2005/8/layout/hProcess11"/>
    <dgm:cxn modelId="{4E6280AD-71BB-4336-A626-2FF40F45A6CC}" type="presParOf" srcId="{7DB1A8A5-BDB4-4194-814B-BDAB6F0D0ADF}" destId="{67074ED5-5073-47C4-A5D8-922D513D1154}" srcOrd="1" destOrd="0" presId="urn:microsoft.com/office/officeart/2005/8/layout/hProcess11"/>
    <dgm:cxn modelId="{05CAB5CF-BC1F-4C9D-8941-39F2501EC354}" type="presParOf" srcId="{7DB1A8A5-BDB4-4194-814B-BDAB6F0D0ADF}" destId="{2467BE71-F896-4A4F-B076-DACFCE454B36}" srcOrd="2" destOrd="0" presId="urn:microsoft.com/office/officeart/2005/8/layout/hProcess11"/>
    <dgm:cxn modelId="{CC8A7ADF-7979-4EC6-96D8-629396B985E1}" type="presParOf" srcId="{2467BE71-F896-4A4F-B076-DACFCE454B36}" destId="{3324FC26-DCB6-4792-934A-1C261883B17B}" srcOrd="0" destOrd="0" presId="urn:microsoft.com/office/officeart/2005/8/layout/hProcess11"/>
    <dgm:cxn modelId="{86563E9B-7F56-4D3B-A1E4-C8626A667805}" type="presParOf" srcId="{2467BE71-F896-4A4F-B076-DACFCE454B36}" destId="{CD5BA655-3882-41E2-8374-96402E8991F0}" srcOrd="1" destOrd="0" presId="urn:microsoft.com/office/officeart/2005/8/layout/hProcess11"/>
    <dgm:cxn modelId="{8CD16B71-0E9B-4410-A628-8D4B4CFAC445}" type="presParOf" srcId="{2467BE71-F896-4A4F-B076-DACFCE454B36}" destId="{515FB82C-4C27-4EC1-B6C2-0AF681CC11B4}" srcOrd="2" destOrd="0" presId="urn:microsoft.com/office/officeart/2005/8/layout/hProcess11"/>
    <dgm:cxn modelId="{497FE2C0-8F6F-47D4-9C41-41AB3C96CD2E}" type="presParOf" srcId="{7DB1A8A5-BDB4-4194-814B-BDAB6F0D0ADF}" destId="{DB6495E1-DD37-4182-A98F-061BBA48EAB8}" srcOrd="3" destOrd="0" presId="urn:microsoft.com/office/officeart/2005/8/layout/hProcess11"/>
    <dgm:cxn modelId="{6BB41524-98D8-41D1-841F-FB36AAC75364}" type="presParOf" srcId="{7DB1A8A5-BDB4-4194-814B-BDAB6F0D0ADF}" destId="{DD957126-2B53-4E0A-880E-0F8B27D429D0}" srcOrd="4" destOrd="0" presId="urn:microsoft.com/office/officeart/2005/8/layout/hProcess11"/>
    <dgm:cxn modelId="{084F3E84-6066-43CC-91BA-3D181BAA5297}" type="presParOf" srcId="{DD957126-2B53-4E0A-880E-0F8B27D429D0}" destId="{3608C52B-1395-483B-B2AB-D4B3EC37E4E9}" srcOrd="0" destOrd="0" presId="urn:microsoft.com/office/officeart/2005/8/layout/hProcess11"/>
    <dgm:cxn modelId="{51F0EF9A-F22D-44E1-9607-0D4F35E3DD36}" type="presParOf" srcId="{DD957126-2B53-4E0A-880E-0F8B27D429D0}" destId="{82DC3443-1254-489A-A23A-0F3C822D1B58}" srcOrd="1" destOrd="0" presId="urn:microsoft.com/office/officeart/2005/8/layout/hProcess11"/>
    <dgm:cxn modelId="{8501A3FD-50BD-4DC3-B31C-5C52D045251B}" type="presParOf" srcId="{DD957126-2B53-4E0A-880E-0F8B27D429D0}" destId="{79329E61-356A-4588-87D3-9BC2BFB0B0B0}" srcOrd="2" destOrd="0" presId="urn:microsoft.com/office/officeart/2005/8/layout/hProcess11"/>
    <dgm:cxn modelId="{5027AD8A-55C7-40B1-9D75-B6EA12D01910}" type="presParOf" srcId="{7DB1A8A5-BDB4-4194-814B-BDAB6F0D0ADF}" destId="{885CABC4-3B9E-4196-89A4-6D437FC3DDF8}" srcOrd="5" destOrd="0" presId="urn:microsoft.com/office/officeart/2005/8/layout/hProcess11"/>
    <dgm:cxn modelId="{326EA348-0B88-4D40-BAFA-67A80B218B5C}" type="presParOf" srcId="{7DB1A8A5-BDB4-4194-814B-BDAB6F0D0ADF}" destId="{A1127B68-8C73-4A42-8D33-101C601966B7}" srcOrd="6" destOrd="0" presId="urn:microsoft.com/office/officeart/2005/8/layout/hProcess11"/>
    <dgm:cxn modelId="{39E8AA7A-4027-4074-9C92-D94C8D3EFED2}" type="presParOf" srcId="{A1127B68-8C73-4A42-8D33-101C601966B7}" destId="{7550F96B-3B54-430A-B7A0-AFC129335CE4}" srcOrd="0" destOrd="0" presId="urn:microsoft.com/office/officeart/2005/8/layout/hProcess11"/>
    <dgm:cxn modelId="{2E63C439-B9DB-495B-8C20-2AC99FF56FA9}" type="presParOf" srcId="{A1127B68-8C73-4A42-8D33-101C601966B7}" destId="{B3829730-A7E2-44D3-9664-1B0981C935F3}" srcOrd="1" destOrd="0" presId="urn:microsoft.com/office/officeart/2005/8/layout/hProcess11"/>
    <dgm:cxn modelId="{E571595D-4EF6-4204-AD17-CA4510FC7922}" type="presParOf" srcId="{A1127B68-8C73-4A42-8D33-101C601966B7}" destId="{1F55AE63-D0ED-4A3A-B6FD-957166AA6E0D}" srcOrd="2" destOrd="0" presId="urn:microsoft.com/office/officeart/2005/8/layout/hProcess11"/>
    <dgm:cxn modelId="{B3784898-93E0-4EC8-BF1C-171071037F39}" type="presParOf" srcId="{7DB1A8A5-BDB4-4194-814B-BDAB6F0D0ADF}" destId="{A7FA72C3-8BD7-4D1C-BC87-3987B7AF87E8}" srcOrd="7" destOrd="0" presId="urn:microsoft.com/office/officeart/2005/8/layout/hProcess11"/>
    <dgm:cxn modelId="{82E0EBBB-B9DC-4979-9B05-83FBE6BE6C06}" type="presParOf" srcId="{7DB1A8A5-BDB4-4194-814B-BDAB6F0D0ADF}" destId="{A42DF37B-FB3C-4948-94D7-76134634DFCF}" srcOrd="8" destOrd="0" presId="urn:microsoft.com/office/officeart/2005/8/layout/hProcess11"/>
    <dgm:cxn modelId="{FC59121C-2E86-4751-99AF-F0F634AECD98}" type="presParOf" srcId="{A42DF37B-FB3C-4948-94D7-76134634DFCF}" destId="{946CD886-159B-41B9-91A2-D658F65D38BB}" srcOrd="0" destOrd="0" presId="urn:microsoft.com/office/officeart/2005/8/layout/hProcess11"/>
    <dgm:cxn modelId="{106D5BAA-9402-4485-8226-385C84F14A49}" type="presParOf" srcId="{A42DF37B-FB3C-4948-94D7-76134634DFCF}" destId="{FA52A7B3-7327-4065-8CF4-EBCD30B79467}" srcOrd="1" destOrd="0" presId="urn:microsoft.com/office/officeart/2005/8/layout/hProcess11"/>
    <dgm:cxn modelId="{DEB295D5-2447-4355-8454-C44325DF23FA}" type="presParOf" srcId="{A42DF37B-FB3C-4948-94D7-76134634DFCF}" destId="{91F23D63-767B-4FAF-8698-4BF71C4A3B00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8D8076-D560-44FB-A32B-730176DE8F9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DDD514C-B7E0-4827-99C0-934322F2AD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  <a:latin typeface="Sharp Sans" pitchFamily="2" charset="0"/>
              <a:ea typeface="Sharp Sans" pitchFamily="2" charset="0"/>
              <a:cs typeface="Sharp Sans" pitchFamily="2" charset="0"/>
            </a:rPr>
            <a:t>Implement Multi-Factor Authentication (MFA) to enhance security.</a:t>
          </a:r>
        </a:p>
      </dgm:t>
    </dgm:pt>
    <dgm:pt modelId="{2B5615DF-505C-4F0F-A6E3-51CBFAEEAE2A}" type="parTrans" cxnId="{23AEFEF7-8BE0-4E2B-B067-7FEC2E638FC7}">
      <dgm:prSet/>
      <dgm:spPr/>
      <dgm:t>
        <a:bodyPr/>
        <a:lstStyle/>
        <a:p>
          <a:endParaRPr lang="en-US"/>
        </a:p>
      </dgm:t>
    </dgm:pt>
    <dgm:pt modelId="{BD4EF426-675F-4A47-B774-CD8EB0ACE4B7}" type="sibTrans" cxnId="{23AEFEF7-8BE0-4E2B-B067-7FEC2E638FC7}">
      <dgm:prSet/>
      <dgm:spPr/>
      <dgm:t>
        <a:bodyPr/>
        <a:lstStyle/>
        <a:p>
          <a:endParaRPr lang="en-US"/>
        </a:p>
      </dgm:t>
    </dgm:pt>
    <dgm:pt modelId="{8DF6DBE7-973E-47A2-BA6A-64B956A7B0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  <a:latin typeface="Sharp Sans" pitchFamily="2" charset="0"/>
              <a:ea typeface="Sharp Sans" pitchFamily="2" charset="0"/>
              <a:cs typeface="Sharp Sans" pitchFamily="2" charset="0"/>
            </a:rPr>
            <a:t>Conduct regular workshops for employee cybersecurity training.</a:t>
          </a:r>
        </a:p>
      </dgm:t>
    </dgm:pt>
    <dgm:pt modelId="{2DF0FE6B-63B7-4236-A7A8-ED4956794F73}" type="parTrans" cxnId="{8EFA8C31-0179-4C66-B3A0-7A85EAC44D16}">
      <dgm:prSet/>
      <dgm:spPr/>
      <dgm:t>
        <a:bodyPr/>
        <a:lstStyle/>
        <a:p>
          <a:endParaRPr lang="en-US"/>
        </a:p>
      </dgm:t>
    </dgm:pt>
    <dgm:pt modelId="{B8CD9898-352B-4EB4-ADA7-A00A6E1E3A3D}" type="sibTrans" cxnId="{8EFA8C31-0179-4C66-B3A0-7A85EAC44D16}">
      <dgm:prSet/>
      <dgm:spPr/>
      <dgm:t>
        <a:bodyPr/>
        <a:lstStyle/>
        <a:p>
          <a:endParaRPr lang="en-US"/>
        </a:p>
      </dgm:t>
    </dgm:pt>
    <dgm:pt modelId="{3E3CFFB3-AE39-4297-A175-1564FD6420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  <a:latin typeface="Sharp Sans" pitchFamily="2" charset="0"/>
              <a:ea typeface="Sharp Sans" pitchFamily="2" charset="0"/>
              <a:cs typeface="Sharp Sans" pitchFamily="2" charset="0"/>
            </a:rPr>
            <a:t>Upgrade to modern IT infrastructure for increased efficiency.</a:t>
          </a:r>
        </a:p>
      </dgm:t>
    </dgm:pt>
    <dgm:pt modelId="{3B9CC717-60CA-441E-A174-950F3B6D52FC}" type="parTrans" cxnId="{5F47A2AF-7D81-4284-803F-2A7CB2129E6E}">
      <dgm:prSet/>
      <dgm:spPr/>
      <dgm:t>
        <a:bodyPr/>
        <a:lstStyle/>
        <a:p>
          <a:endParaRPr lang="en-US"/>
        </a:p>
      </dgm:t>
    </dgm:pt>
    <dgm:pt modelId="{9AE85B04-8B7A-4FCC-849F-777D00C7C52C}" type="sibTrans" cxnId="{5F47A2AF-7D81-4284-803F-2A7CB2129E6E}">
      <dgm:prSet/>
      <dgm:spPr/>
      <dgm:t>
        <a:bodyPr/>
        <a:lstStyle/>
        <a:p>
          <a:endParaRPr lang="en-US"/>
        </a:p>
      </dgm:t>
    </dgm:pt>
    <dgm:pt modelId="{D75FA57B-1616-42AB-9719-934A1A3038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  <a:latin typeface="Sharp Sans" pitchFamily="2" charset="0"/>
              <a:ea typeface="Sharp Sans" pitchFamily="2" charset="0"/>
              <a:cs typeface="Sharp Sans" pitchFamily="2" charset="0"/>
            </a:rPr>
            <a:t>Invest in Endpoint Detection and Response (EDR) technologies.</a:t>
          </a:r>
        </a:p>
      </dgm:t>
    </dgm:pt>
    <dgm:pt modelId="{8707325C-8669-4839-B5B4-3A977B88C52C}" type="parTrans" cxnId="{86B8A2F6-850E-488D-8352-51948A2AA9A9}">
      <dgm:prSet/>
      <dgm:spPr/>
      <dgm:t>
        <a:bodyPr/>
        <a:lstStyle/>
        <a:p>
          <a:endParaRPr lang="en-US"/>
        </a:p>
      </dgm:t>
    </dgm:pt>
    <dgm:pt modelId="{60BE01F5-D394-409B-A27B-AA0844D8ADF3}" type="sibTrans" cxnId="{86B8A2F6-850E-488D-8352-51948A2AA9A9}">
      <dgm:prSet/>
      <dgm:spPr/>
      <dgm:t>
        <a:bodyPr/>
        <a:lstStyle/>
        <a:p>
          <a:endParaRPr lang="en-US"/>
        </a:p>
      </dgm:t>
    </dgm:pt>
    <dgm:pt modelId="{5699E1E4-DDAF-42D6-A76F-2006A19B4E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  <a:latin typeface="Sharp Sans" pitchFamily="2" charset="0"/>
              <a:ea typeface="Sharp Sans" pitchFamily="2" charset="0"/>
              <a:cs typeface="Sharp Sans" pitchFamily="2" charset="0"/>
            </a:rPr>
            <a:t>Utilize Risk Management Software for better risk analysis.</a:t>
          </a:r>
        </a:p>
      </dgm:t>
    </dgm:pt>
    <dgm:pt modelId="{98B08FD9-3C34-4B2C-96E1-F6AA17248397}" type="parTrans" cxnId="{A43AFAB4-6C5C-456B-A346-D55436D2E9C4}">
      <dgm:prSet/>
      <dgm:spPr/>
      <dgm:t>
        <a:bodyPr/>
        <a:lstStyle/>
        <a:p>
          <a:endParaRPr lang="en-US"/>
        </a:p>
      </dgm:t>
    </dgm:pt>
    <dgm:pt modelId="{430EB834-A7A5-431F-A6D3-47B97A03A9B4}" type="sibTrans" cxnId="{A43AFAB4-6C5C-456B-A346-D55436D2E9C4}">
      <dgm:prSet/>
      <dgm:spPr/>
      <dgm:t>
        <a:bodyPr/>
        <a:lstStyle/>
        <a:p>
          <a:endParaRPr lang="en-US"/>
        </a:p>
      </dgm:t>
    </dgm:pt>
    <dgm:pt modelId="{F3EEC3A8-291B-4D4A-8287-62057B8707FC}" type="pres">
      <dgm:prSet presAssocID="{238D8076-D560-44FB-A32B-730176DE8F9C}" presName="root" presStyleCnt="0">
        <dgm:presLayoutVars>
          <dgm:dir/>
          <dgm:resizeHandles val="exact"/>
        </dgm:presLayoutVars>
      </dgm:prSet>
      <dgm:spPr/>
    </dgm:pt>
    <dgm:pt modelId="{12F82F97-DC17-4CE9-A075-8C58350CD200}" type="pres">
      <dgm:prSet presAssocID="{FDDD514C-B7E0-4827-99C0-934322F2AD75}" presName="compNode" presStyleCnt="0"/>
      <dgm:spPr/>
    </dgm:pt>
    <dgm:pt modelId="{9BE3CE49-2CB3-4C46-9893-2003853CCAEC}" type="pres">
      <dgm:prSet presAssocID="{FDDD514C-B7E0-4827-99C0-934322F2AD75}" presName="bgRect" presStyleLbl="bgShp" presStyleIdx="0" presStyleCnt="5"/>
      <dgm:spPr>
        <a:solidFill>
          <a:srgbClr val="007EB4"/>
        </a:solidFill>
      </dgm:spPr>
    </dgm:pt>
    <dgm:pt modelId="{120A68CF-78CB-4B31-B1F5-CB0A8AABA890}" type="pres">
      <dgm:prSet presAssocID="{FDDD514C-B7E0-4827-99C0-934322F2AD7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2322734B-4D72-43E0-8516-C5531876358C}" type="pres">
      <dgm:prSet presAssocID="{FDDD514C-B7E0-4827-99C0-934322F2AD75}" presName="spaceRect" presStyleCnt="0"/>
      <dgm:spPr/>
    </dgm:pt>
    <dgm:pt modelId="{8A269766-0F90-43B9-AB15-6890AAC7F6B1}" type="pres">
      <dgm:prSet presAssocID="{FDDD514C-B7E0-4827-99C0-934322F2AD75}" presName="parTx" presStyleLbl="revTx" presStyleIdx="0" presStyleCnt="5">
        <dgm:presLayoutVars>
          <dgm:chMax val="0"/>
          <dgm:chPref val="0"/>
        </dgm:presLayoutVars>
      </dgm:prSet>
      <dgm:spPr/>
    </dgm:pt>
    <dgm:pt modelId="{2010C5EB-90D8-4142-B04E-EC5CC5963733}" type="pres">
      <dgm:prSet presAssocID="{BD4EF426-675F-4A47-B774-CD8EB0ACE4B7}" presName="sibTrans" presStyleCnt="0"/>
      <dgm:spPr/>
    </dgm:pt>
    <dgm:pt modelId="{4469625F-D5CA-4B97-8967-8BB7747BAE50}" type="pres">
      <dgm:prSet presAssocID="{8DF6DBE7-973E-47A2-BA6A-64B956A7B08F}" presName="compNode" presStyleCnt="0"/>
      <dgm:spPr/>
    </dgm:pt>
    <dgm:pt modelId="{AF89D84C-39B0-41E6-B00C-6A56B7988EAA}" type="pres">
      <dgm:prSet presAssocID="{8DF6DBE7-973E-47A2-BA6A-64B956A7B08F}" presName="bgRect" presStyleLbl="bgShp" presStyleIdx="1" presStyleCnt="5"/>
      <dgm:spPr>
        <a:solidFill>
          <a:srgbClr val="007EB4"/>
        </a:solidFill>
      </dgm:spPr>
    </dgm:pt>
    <dgm:pt modelId="{B00D4080-1644-4FDA-88BF-D947555B6152}" type="pres">
      <dgm:prSet presAssocID="{8DF6DBE7-973E-47A2-BA6A-64B956A7B08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BE810E05-701F-475A-8ECA-8A5CD15A76EA}" type="pres">
      <dgm:prSet presAssocID="{8DF6DBE7-973E-47A2-BA6A-64B956A7B08F}" presName="spaceRect" presStyleCnt="0"/>
      <dgm:spPr/>
    </dgm:pt>
    <dgm:pt modelId="{F3A2CA6F-B91A-41C5-A8AF-801462DC4272}" type="pres">
      <dgm:prSet presAssocID="{8DF6DBE7-973E-47A2-BA6A-64B956A7B08F}" presName="parTx" presStyleLbl="revTx" presStyleIdx="1" presStyleCnt="5">
        <dgm:presLayoutVars>
          <dgm:chMax val="0"/>
          <dgm:chPref val="0"/>
        </dgm:presLayoutVars>
      </dgm:prSet>
      <dgm:spPr/>
    </dgm:pt>
    <dgm:pt modelId="{18A81736-E3ED-4709-A25E-51B60A167E08}" type="pres">
      <dgm:prSet presAssocID="{B8CD9898-352B-4EB4-ADA7-A00A6E1E3A3D}" presName="sibTrans" presStyleCnt="0"/>
      <dgm:spPr/>
    </dgm:pt>
    <dgm:pt modelId="{20CB7DFC-412F-45CE-A213-C3E0E3EB3948}" type="pres">
      <dgm:prSet presAssocID="{3E3CFFB3-AE39-4297-A175-1564FD6420C0}" presName="compNode" presStyleCnt="0"/>
      <dgm:spPr/>
    </dgm:pt>
    <dgm:pt modelId="{63B11ED7-B27F-4D92-ADBD-138D3859D533}" type="pres">
      <dgm:prSet presAssocID="{3E3CFFB3-AE39-4297-A175-1564FD6420C0}" presName="bgRect" presStyleLbl="bgShp" presStyleIdx="2" presStyleCnt="5"/>
      <dgm:spPr>
        <a:solidFill>
          <a:srgbClr val="007EB4"/>
        </a:solidFill>
      </dgm:spPr>
    </dgm:pt>
    <dgm:pt modelId="{760D4C86-F7B4-4F04-A008-F680ADA92C24}" type="pres">
      <dgm:prSet presAssocID="{3E3CFFB3-AE39-4297-A175-1564FD6420C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C4544C0F-94F2-463B-AC1B-16F241D95DEE}" type="pres">
      <dgm:prSet presAssocID="{3E3CFFB3-AE39-4297-A175-1564FD6420C0}" presName="spaceRect" presStyleCnt="0"/>
      <dgm:spPr/>
    </dgm:pt>
    <dgm:pt modelId="{2CCF7906-3B2B-4CD1-9804-A0BCB136FBBD}" type="pres">
      <dgm:prSet presAssocID="{3E3CFFB3-AE39-4297-A175-1564FD6420C0}" presName="parTx" presStyleLbl="revTx" presStyleIdx="2" presStyleCnt="5">
        <dgm:presLayoutVars>
          <dgm:chMax val="0"/>
          <dgm:chPref val="0"/>
        </dgm:presLayoutVars>
      </dgm:prSet>
      <dgm:spPr/>
    </dgm:pt>
    <dgm:pt modelId="{2CEC4D34-DE35-4B9C-9865-9C12A1ADD32B}" type="pres">
      <dgm:prSet presAssocID="{9AE85B04-8B7A-4FCC-849F-777D00C7C52C}" presName="sibTrans" presStyleCnt="0"/>
      <dgm:spPr/>
    </dgm:pt>
    <dgm:pt modelId="{A53C348A-7724-418C-95F9-2416FAB698C9}" type="pres">
      <dgm:prSet presAssocID="{D75FA57B-1616-42AB-9719-934A1A3038DE}" presName="compNode" presStyleCnt="0"/>
      <dgm:spPr/>
    </dgm:pt>
    <dgm:pt modelId="{D80BE7AF-5738-4DC8-8DE5-BC92747E8B17}" type="pres">
      <dgm:prSet presAssocID="{D75FA57B-1616-42AB-9719-934A1A3038DE}" presName="bgRect" presStyleLbl="bgShp" presStyleIdx="3" presStyleCnt="5"/>
      <dgm:spPr>
        <a:solidFill>
          <a:srgbClr val="007EB4"/>
        </a:solidFill>
      </dgm:spPr>
    </dgm:pt>
    <dgm:pt modelId="{80CEE8F0-1C8A-4E38-8589-00AFD68DF061}" type="pres">
      <dgm:prSet presAssocID="{D75FA57B-1616-42AB-9719-934A1A3038D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47AEEE64-C078-4D9B-9B2A-29C4FAED1EA0}" type="pres">
      <dgm:prSet presAssocID="{D75FA57B-1616-42AB-9719-934A1A3038DE}" presName="spaceRect" presStyleCnt="0"/>
      <dgm:spPr/>
    </dgm:pt>
    <dgm:pt modelId="{B4C583B0-9541-40BE-AF6A-97BD6A9534D1}" type="pres">
      <dgm:prSet presAssocID="{D75FA57B-1616-42AB-9719-934A1A3038DE}" presName="parTx" presStyleLbl="revTx" presStyleIdx="3" presStyleCnt="5">
        <dgm:presLayoutVars>
          <dgm:chMax val="0"/>
          <dgm:chPref val="0"/>
        </dgm:presLayoutVars>
      </dgm:prSet>
      <dgm:spPr/>
    </dgm:pt>
    <dgm:pt modelId="{62F8BA6A-A298-465D-AC9A-A5732FED37B2}" type="pres">
      <dgm:prSet presAssocID="{60BE01F5-D394-409B-A27B-AA0844D8ADF3}" presName="sibTrans" presStyleCnt="0"/>
      <dgm:spPr/>
    </dgm:pt>
    <dgm:pt modelId="{ACB5FB6F-5E75-42F7-B492-D2E2519474D0}" type="pres">
      <dgm:prSet presAssocID="{5699E1E4-DDAF-42D6-A76F-2006A19B4EE3}" presName="compNode" presStyleCnt="0"/>
      <dgm:spPr/>
    </dgm:pt>
    <dgm:pt modelId="{4E267A81-6E30-4DFC-9E22-659F140F2F92}" type="pres">
      <dgm:prSet presAssocID="{5699E1E4-DDAF-42D6-A76F-2006A19B4EE3}" presName="bgRect" presStyleLbl="bgShp" presStyleIdx="4" presStyleCnt="5"/>
      <dgm:spPr>
        <a:solidFill>
          <a:srgbClr val="007EB4"/>
        </a:solidFill>
      </dgm:spPr>
    </dgm:pt>
    <dgm:pt modelId="{3A24F64B-D5FA-4934-B30C-AD5655DCE00B}" type="pres">
      <dgm:prSet presAssocID="{5699E1E4-DDAF-42D6-A76F-2006A19B4EE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4E3DB7A2-5D2A-49A4-B150-F3B57F1C7554}" type="pres">
      <dgm:prSet presAssocID="{5699E1E4-DDAF-42D6-A76F-2006A19B4EE3}" presName="spaceRect" presStyleCnt="0"/>
      <dgm:spPr/>
    </dgm:pt>
    <dgm:pt modelId="{376F66F8-4990-4750-A25D-C765C40A374D}" type="pres">
      <dgm:prSet presAssocID="{5699E1E4-DDAF-42D6-A76F-2006A19B4EE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9A64708-34DA-4DED-9168-C9FDF3B2F747}" type="presOf" srcId="{238D8076-D560-44FB-A32B-730176DE8F9C}" destId="{F3EEC3A8-291B-4D4A-8287-62057B8707FC}" srcOrd="0" destOrd="0" presId="urn:microsoft.com/office/officeart/2018/2/layout/IconVerticalSolidList"/>
    <dgm:cxn modelId="{898C3513-96E9-43E3-90C3-A9631891D64D}" type="presOf" srcId="{3E3CFFB3-AE39-4297-A175-1564FD6420C0}" destId="{2CCF7906-3B2B-4CD1-9804-A0BCB136FBBD}" srcOrd="0" destOrd="0" presId="urn:microsoft.com/office/officeart/2018/2/layout/IconVerticalSolidList"/>
    <dgm:cxn modelId="{8EFA8C31-0179-4C66-B3A0-7A85EAC44D16}" srcId="{238D8076-D560-44FB-A32B-730176DE8F9C}" destId="{8DF6DBE7-973E-47A2-BA6A-64B956A7B08F}" srcOrd="1" destOrd="0" parTransId="{2DF0FE6B-63B7-4236-A7A8-ED4956794F73}" sibTransId="{B8CD9898-352B-4EB4-ADA7-A00A6E1E3A3D}"/>
    <dgm:cxn modelId="{73781B51-A026-44F5-AC4E-480320226A1B}" type="presOf" srcId="{5699E1E4-DDAF-42D6-A76F-2006A19B4EE3}" destId="{376F66F8-4990-4750-A25D-C765C40A374D}" srcOrd="0" destOrd="0" presId="urn:microsoft.com/office/officeart/2018/2/layout/IconVerticalSolidList"/>
    <dgm:cxn modelId="{EB6F818B-F82C-4B19-8AA4-19D51CD39BCE}" type="presOf" srcId="{8DF6DBE7-973E-47A2-BA6A-64B956A7B08F}" destId="{F3A2CA6F-B91A-41C5-A8AF-801462DC4272}" srcOrd="0" destOrd="0" presId="urn:microsoft.com/office/officeart/2018/2/layout/IconVerticalSolidList"/>
    <dgm:cxn modelId="{81C16A9A-DAB1-427C-A721-2A972125E931}" type="presOf" srcId="{D75FA57B-1616-42AB-9719-934A1A3038DE}" destId="{B4C583B0-9541-40BE-AF6A-97BD6A9534D1}" srcOrd="0" destOrd="0" presId="urn:microsoft.com/office/officeart/2018/2/layout/IconVerticalSolidList"/>
    <dgm:cxn modelId="{35D965A5-30E3-4B61-9866-3CA56420C44E}" type="presOf" srcId="{FDDD514C-B7E0-4827-99C0-934322F2AD75}" destId="{8A269766-0F90-43B9-AB15-6890AAC7F6B1}" srcOrd="0" destOrd="0" presId="urn:microsoft.com/office/officeart/2018/2/layout/IconVerticalSolidList"/>
    <dgm:cxn modelId="{5F47A2AF-7D81-4284-803F-2A7CB2129E6E}" srcId="{238D8076-D560-44FB-A32B-730176DE8F9C}" destId="{3E3CFFB3-AE39-4297-A175-1564FD6420C0}" srcOrd="2" destOrd="0" parTransId="{3B9CC717-60CA-441E-A174-950F3B6D52FC}" sibTransId="{9AE85B04-8B7A-4FCC-849F-777D00C7C52C}"/>
    <dgm:cxn modelId="{A43AFAB4-6C5C-456B-A346-D55436D2E9C4}" srcId="{238D8076-D560-44FB-A32B-730176DE8F9C}" destId="{5699E1E4-DDAF-42D6-A76F-2006A19B4EE3}" srcOrd="4" destOrd="0" parTransId="{98B08FD9-3C34-4B2C-96E1-F6AA17248397}" sibTransId="{430EB834-A7A5-431F-A6D3-47B97A03A9B4}"/>
    <dgm:cxn modelId="{86B8A2F6-850E-488D-8352-51948A2AA9A9}" srcId="{238D8076-D560-44FB-A32B-730176DE8F9C}" destId="{D75FA57B-1616-42AB-9719-934A1A3038DE}" srcOrd="3" destOrd="0" parTransId="{8707325C-8669-4839-B5B4-3A977B88C52C}" sibTransId="{60BE01F5-D394-409B-A27B-AA0844D8ADF3}"/>
    <dgm:cxn modelId="{23AEFEF7-8BE0-4E2B-B067-7FEC2E638FC7}" srcId="{238D8076-D560-44FB-A32B-730176DE8F9C}" destId="{FDDD514C-B7E0-4827-99C0-934322F2AD75}" srcOrd="0" destOrd="0" parTransId="{2B5615DF-505C-4F0F-A6E3-51CBFAEEAE2A}" sibTransId="{BD4EF426-675F-4A47-B774-CD8EB0ACE4B7}"/>
    <dgm:cxn modelId="{247110BA-E836-47E9-91D6-516C6E37CF87}" type="presParOf" srcId="{F3EEC3A8-291B-4D4A-8287-62057B8707FC}" destId="{12F82F97-DC17-4CE9-A075-8C58350CD200}" srcOrd="0" destOrd="0" presId="urn:microsoft.com/office/officeart/2018/2/layout/IconVerticalSolidList"/>
    <dgm:cxn modelId="{23D5C0EC-BB7E-4DD0-967C-3C83ABD51293}" type="presParOf" srcId="{12F82F97-DC17-4CE9-A075-8C58350CD200}" destId="{9BE3CE49-2CB3-4C46-9893-2003853CCAEC}" srcOrd="0" destOrd="0" presId="urn:microsoft.com/office/officeart/2018/2/layout/IconVerticalSolidList"/>
    <dgm:cxn modelId="{3266B992-63A5-4FB8-AFA5-DB4C003A05C7}" type="presParOf" srcId="{12F82F97-DC17-4CE9-A075-8C58350CD200}" destId="{120A68CF-78CB-4B31-B1F5-CB0A8AABA890}" srcOrd="1" destOrd="0" presId="urn:microsoft.com/office/officeart/2018/2/layout/IconVerticalSolidList"/>
    <dgm:cxn modelId="{9C9E7BD9-746F-4C97-9FE6-333621774683}" type="presParOf" srcId="{12F82F97-DC17-4CE9-A075-8C58350CD200}" destId="{2322734B-4D72-43E0-8516-C5531876358C}" srcOrd="2" destOrd="0" presId="urn:microsoft.com/office/officeart/2018/2/layout/IconVerticalSolidList"/>
    <dgm:cxn modelId="{9807DEA7-C618-4B35-8E4A-FEAD63095BC6}" type="presParOf" srcId="{12F82F97-DC17-4CE9-A075-8C58350CD200}" destId="{8A269766-0F90-43B9-AB15-6890AAC7F6B1}" srcOrd="3" destOrd="0" presId="urn:microsoft.com/office/officeart/2018/2/layout/IconVerticalSolidList"/>
    <dgm:cxn modelId="{76DC0972-7CAB-4F63-8494-BED2621E5FED}" type="presParOf" srcId="{F3EEC3A8-291B-4D4A-8287-62057B8707FC}" destId="{2010C5EB-90D8-4142-B04E-EC5CC5963733}" srcOrd="1" destOrd="0" presId="urn:microsoft.com/office/officeart/2018/2/layout/IconVerticalSolidList"/>
    <dgm:cxn modelId="{2B9B135C-07A7-460D-AC19-5B0DA839ADC7}" type="presParOf" srcId="{F3EEC3A8-291B-4D4A-8287-62057B8707FC}" destId="{4469625F-D5CA-4B97-8967-8BB7747BAE50}" srcOrd="2" destOrd="0" presId="urn:microsoft.com/office/officeart/2018/2/layout/IconVerticalSolidList"/>
    <dgm:cxn modelId="{C5F6CA17-3732-4C78-9B2B-AE99CB4B6EB3}" type="presParOf" srcId="{4469625F-D5CA-4B97-8967-8BB7747BAE50}" destId="{AF89D84C-39B0-41E6-B00C-6A56B7988EAA}" srcOrd="0" destOrd="0" presId="urn:microsoft.com/office/officeart/2018/2/layout/IconVerticalSolidList"/>
    <dgm:cxn modelId="{4BC584BE-A0CF-4959-A6D7-91D45B6F3915}" type="presParOf" srcId="{4469625F-D5CA-4B97-8967-8BB7747BAE50}" destId="{B00D4080-1644-4FDA-88BF-D947555B6152}" srcOrd="1" destOrd="0" presId="urn:microsoft.com/office/officeart/2018/2/layout/IconVerticalSolidList"/>
    <dgm:cxn modelId="{B1A2AF74-6839-4A6B-94E9-5A0F80E71D83}" type="presParOf" srcId="{4469625F-D5CA-4B97-8967-8BB7747BAE50}" destId="{BE810E05-701F-475A-8ECA-8A5CD15A76EA}" srcOrd="2" destOrd="0" presId="urn:microsoft.com/office/officeart/2018/2/layout/IconVerticalSolidList"/>
    <dgm:cxn modelId="{021067EF-5CA0-44B2-8EB5-149D4A1F35D8}" type="presParOf" srcId="{4469625F-D5CA-4B97-8967-8BB7747BAE50}" destId="{F3A2CA6F-B91A-41C5-A8AF-801462DC4272}" srcOrd="3" destOrd="0" presId="urn:microsoft.com/office/officeart/2018/2/layout/IconVerticalSolidList"/>
    <dgm:cxn modelId="{A11B81E7-28C0-4F09-954A-8AFA6170EEBE}" type="presParOf" srcId="{F3EEC3A8-291B-4D4A-8287-62057B8707FC}" destId="{18A81736-E3ED-4709-A25E-51B60A167E08}" srcOrd="3" destOrd="0" presId="urn:microsoft.com/office/officeart/2018/2/layout/IconVerticalSolidList"/>
    <dgm:cxn modelId="{1578626F-9E65-4654-BA05-5B07B1AE0618}" type="presParOf" srcId="{F3EEC3A8-291B-4D4A-8287-62057B8707FC}" destId="{20CB7DFC-412F-45CE-A213-C3E0E3EB3948}" srcOrd="4" destOrd="0" presId="urn:microsoft.com/office/officeart/2018/2/layout/IconVerticalSolidList"/>
    <dgm:cxn modelId="{3D777C51-E59D-4846-852A-29EEF05D1ACF}" type="presParOf" srcId="{20CB7DFC-412F-45CE-A213-C3E0E3EB3948}" destId="{63B11ED7-B27F-4D92-ADBD-138D3859D533}" srcOrd="0" destOrd="0" presId="urn:microsoft.com/office/officeart/2018/2/layout/IconVerticalSolidList"/>
    <dgm:cxn modelId="{D23C04A0-7458-4658-9B1E-882FC920CFE6}" type="presParOf" srcId="{20CB7DFC-412F-45CE-A213-C3E0E3EB3948}" destId="{760D4C86-F7B4-4F04-A008-F680ADA92C24}" srcOrd="1" destOrd="0" presId="urn:microsoft.com/office/officeart/2018/2/layout/IconVerticalSolidList"/>
    <dgm:cxn modelId="{BFF910C2-7144-4E0C-AD6C-7DE08A782811}" type="presParOf" srcId="{20CB7DFC-412F-45CE-A213-C3E0E3EB3948}" destId="{C4544C0F-94F2-463B-AC1B-16F241D95DEE}" srcOrd="2" destOrd="0" presId="urn:microsoft.com/office/officeart/2018/2/layout/IconVerticalSolidList"/>
    <dgm:cxn modelId="{EDA8AB96-318B-4593-BE3D-6FCBCCDF6E58}" type="presParOf" srcId="{20CB7DFC-412F-45CE-A213-C3E0E3EB3948}" destId="{2CCF7906-3B2B-4CD1-9804-A0BCB136FBBD}" srcOrd="3" destOrd="0" presId="urn:microsoft.com/office/officeart/2018/2/layout/IconVerticalSolidList"/>
    <dgm:cxn modelId="{6D3C7980-872E-4506-877E-57B7E268EF1B}" type="presParOf" srcId="{F3EEC3A8-291B-4D4A-8287-62057B8707FC}" destId="{2CEC4D34-DE35-4B9C-9865-9C12A1ADD32B}" srcOrd="5" destOrd="0" presId="urn:microsoft.com/office/officeart/2018/2/layout/IconVerticalSolidList"/>
    <dgm:cxn modelId="{43C6EC07-3AD1-4EFD-B37C-F300C4414F26}" type="presParOf" srcId="{F3EEC3A8-291B-4D4A-8287-62057B8707FC}" destId="{A53C348A-7724-418C-95F9-2416FAB698C9}" srcOrd="6" destOrd="0" presId="urn:microsoft.com/office/officeart/2018/2/layout/IconVerticalSolidList"/>
    <dgm:cxn modelId="{2790811B-E5C3-4CF7-9270-FC5F35C2A631}" type="presParOf" srcId="{A53C348A-7724-418C-95F9-2416FAB698C9}" destId="{D80BE7AF-5738-4DC8-8DE5-BC92747E8B17}" srcOrd="0" destOrd="0" presId="urn:microsoft.com/office/officeart/2018/2/layout/IconVerticalSolidList"/>
    <dgm:cxn modelId="{787E0177-0F4D-4A93-B3F3-E8160F1A2802}" type="presParOf" srcId="{A53C348A-7724-418C-95F9-2416FAB698C9}" destId="{80CEE8F0-1C8A-4E38-8589-00AFD68DF061}" srcOrd="1" destOrd="0" presId="urn:microsoft.com/office/officeart/2018/2/layout/IconVerticalSolidList"/>
    <dgm:cxn modelId="{FD826D71-D9A8-4C4E-9A92-95FDD373B1ED}" type="presParOf" srcId="{A53C348A-7724-418C-95F9-2416FAB698C9}" destId="{47AEEE64-C078-4D9B-9B2A-29C4FAED1EA0}" srcOrd="2" destOrd="0" presId="urn:microsoft.com/office/officeart/2018/2/layout/IconVerticalSolidList"/>
    <dgm:cxn modelId="{104EC191-D628-492A-942B-36A3526C6088}" type="presParOf" srcId="{A53C348A-7724-418C-95F9-2416FAB698C9}" destId="{B4C583B0-9541-40BE-AF6A-97BD6A9534D1}" srcOrd="3" destOrd="0" presId="urn:microsoft.com/office/officeart/2018/2/layout/IconVerticalSolidList"/>
    <dgm:cxn modelId="{EEC0D933-3948-4062-B27E-2F9541EBB866}" type="presParOf" srcId="{F3EEC3A8-291B-4D4A-8287-62057B8707FC}" destId="{62F8BA6A-A298-465D-AC9A-A5732FED37B2}" srcOrd="7" destOrd="0" presId="urn:microsoft.com/office/officeart/2018/2/layout/IconVerticalSolidList"/>
    <dgm:cxn modelId="{358D2558-E13C-4E0F-92A9-C320853D2A91}" type="presParOf" srcId="{F3EEC3A8-291B-4D4A-8287-62057B8707FC}" destId="{ACB5FB6F-5E75-42F7-B492-D2E2519474D0}" srcOrd="8" destOrd="0" presId="urn:microsoft.com/office/officeart/2018/2/layout/IconVerticalSolidList"/>
    <dgm:cxn modelId="{AAE65192-C316-4856-94D4-E54FC7E0E42F}" type="presParOf" srcId="{ACB5FB6F-5E75-42F7-B492-D2E2519474D0}" destId="{4E267A81-6E30-4DFC-9E22-659F140F2F92}" srcOrd="0" destOrd="0" presId="urn:microsoft.com/office/officeart/2018/2/layout/IconVerticalSolidList"/>
    <dgm:cxn modelId="{8BA8DCF2-F570-4E36-A875-7D54998CA360}" type="presParOf" srcId="{ACB5FB6F-5E75-42F7-B492-D2E2519474D0}" destId="{3A24F64B-D5FA-4934-B30C-AD5655DCE00B}" srcOrd="1" destOrd="0" presId="urn:microsoft.com/office/officeart/2018/2/layout/IconVerticalSolidList"/>
    <dgm:cxn modelId="{B70EBA5F-EF03-4D7F-98AD-98BCC3402FFD}" type="presParOf" srcId="{ACB5FB6F-5E75-42F7-B492-D2E2519474D0}" destId="{4E3DB7A2-5D2A-49A4-B150-F3B57F1C7554}" srcOrd="2" destOrd="0" presId="urn:microsoft.com/office/officeart/2018/2/layout/IconVerticalSolidList"/>
    <dgm:cxn modelId="{BCF535D0-FEF1-4746-9DA7-D535916C0D9E}" type="presParOf" srcId="{ACB5FB6F-5E75-42F7-B492-D2E2519474D0}" destId="{376F66F8-4990-4750-A25D-C765C40A374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530226-C72B-4E66-9F25-E688EE747EF1}">
      <dsp:nvSpPr>
        <dsp:cNvPr id="0" name=""/>
        <dsp:cNvSpPr/>
      </dsp:nvSpPr>
      <dsp:spPr>
        <a:xfrm>
          <a:off x="0" y="938493"/>
          <a:ext cx="10922000" cy="1251324"/>
        </a:xfrm>
        <a:prstGeom prst="notchedRightArrow">
          <a:avLst/>
        </a:prstGeom>
        <a:gradFill rotWithShape="0">
          <a:gsLst>
            <a:gs pos="21000">
              <a:srgbClr val="FF9527"/>
            </a:gs>
            <a:gs pos="80000">
              <a:srgbClr val="00B050"/>
            </a:gs>
          </a:gsLst>
          <a:lin ang="0" scaled="0"/>
        </a:gradFill>
        <a:ln>
          <a:noFill/>
        </a:ln>
        <a:effectLst>
          <a:outerShdw blurRad="101600" dist="114300" dir="10200000" algn="t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C04BD6-B547-4E06-A1EF-112D01D38121}">
      <dsp:nvSpPr>
        <dsp:cNvPr id="0" name=""/>
        <dsp:cNvSpPr/>
      </dsp:nvSpPr>
      <dsp:spPr>
        <a:xfrm>
          <a:off x="4319" y="0"/>
          <a:ext cx="1888684" cy="12513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206248" rIns="206248" bIns="206248" numCol="1" spcCol="1270" anchor="b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Identify</a:t>
          </a:r>
        </a:p>
      </dsp:txBody>
      <dsp:txXfrm>
        <a:off x="4319" y="0"/>
        <a:ext cx="1888684" cy="1251324"/>
      </dsp:txXfrm>
    </dsp:sp>
    <dsp:sp modelId="{64089A85-30DF-4CAB-A779-9A54938911A8}">
      <dsp:nvSpPr>
        <dsp:cNvPr id="0" name=""/>
        <dsp:cNvSpPr/>
      </dsp:nvSpPr>
      <dsp:spPr>
        <a:xfrm>
          <a:off x="792246" y="1407739"/>
          <a:ext cx="312831" cy="312831"/>
        </a:xfrm>
        <a:prstGeom prst="ellipse">
          <a:avLst/>
        </a:prstGeom>
        <a:solidFill>
          <a:srgbClr val="FFDC8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24FC26-DCB6-4792-934A-1C261883B17B}">
      <dsp:nvSpPr>
        <dsp:cNvPr id="0" name=""/>
        <dsp:cNvSpPr/>
      </dsp:nvSpPr>
      <dsp:spPr>
        <a:xfrm>
          <a:off x="1987438" y="1876986"/>
          <a:ext cx="1888684" cy="12513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206248" rIns="206248" bIns="206248" numCol="1" spcCol="1270" anchor="t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Protect</a:t>
          </a:r>
        </a:p>
      </dsp:txBody>
      <dsp:txXfrm>
        <a:off x="1987438" y="1876986"/>
        <a:ext cx="1888684" cy="1251324"/>
      </dsp:txXfrm>
    </dsp:sp>
    <dsp:sp modelId="{CD5BA655-3882-41E2-8374-96402E8991F0}">
      <dsp:nvSpPr>
        <dsp:cNvPr id="0" name=""/>
        <dsp:cNvSpPr/>
      </dsp:nvSpPr>
      <dsp:spPr>
        <a:xfrm>
          <a:off x="2775365" y="1407739"/>
          <a:ext cx="312831" cy="312831"/>
        </a:xfrm>
        <a:prstGeom prst="ellipse">
          <a:avLst/>
        </a:prstGeom>
        <a:solidFill>
          <a:srgbClr val="01B0F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08C52B-1395-483B-B2AB-D4B3EC37E4E9}">
      <dsp:nvSpPr>
        <dsp:cNvPr id="0" name=""/>
        <dsp:cNvSpPr/>
      </dsp:nvSpPr>
      <dsp:spPr>
        <a:xfrm>
          <a:off x="3970557" y="0"/>
          <a:ext cx="1888684" cy="12513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206248" rIns="206248" bIns="206248" numCol="1" spcCol="1270" anchor="b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Detect</a:t>
          </a:r>
        </a:p>
      </dsp:txBody>
      <dsp:txXfrm>
        <a:off x="3970557" y="0"/>
        <a:ext cx="1888684" cy="1251324"/>
      </dsp:txXfrm>
    </dsp:sp>
    <dsp:sp modelId="{82DC3443-1254-489A-A23A-0F3C822D1B58}">
      <dsp:nvSpPr>
        <dsp:cNvPr id="0" name=""/>
        <dsp:cNvSpPr/>
      </dsp:nvSpPr>
      <dsp:spPr>
        <a:xfrm>
          <a:off x="4758484" y="1407739"/>
          <a:ext cx="312831" cy="312831"/>
        </a:xfrm>
        <a:prstGeom prst="ellipse">
          <a:avLst/>
        </a:prstGeom>
        <a:solidFill>
          <a:srgbClr val="FF9527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50F96B-3B54-430A-B7A0-AFC129335CE4}">
      <dsp:nvSpPr>
        <dsp:cNvPr id="0" name=""/>
        <dsp:cNvSpPr/>
      </dsp:nvSpPr>
      <dsp:spPr>
        <a:xfrm>
          <a:off x="5953676" y="1876986"/>
          <a:ext cx="1888684" cy="12513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206248" rIns="206248" bIns="206248" numCol="1" spcCol="1270" anchor="t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Respond</a:t>
          </a:r>
        </a:p>
      </dsp:txBody>
      <dsp:txXfrm>
        <a:off x="5953676" y="1876986"/>
        <a:ext cx="1888684" cy="1251324"/>
      </dsp:txXfrm>
    </dsp:sp>
    <dsp:sp modelId="{B3829730-A7E2-44D3-9664-1B0981C935F3}">
      <dsp:nvSpPr>
        <dsp:cNvPr id="0" name=""/>
        <dsp:cNvSpPr/>
      </dsp:nvSpPr>
      <dsp:spPr>
        <a:xfrm>
          <a:off x="6741603" y="1407739"/>
          <a:ext cx="312831" cy="312831"/>
        </a:xfrm>
        <a:prstGeom prst="ellipse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6CD886-159B-41B9-91A2-D658F65D38BB}">
      <dsp:nvSpPr>
        <dsp:cNvPr id="0" name=""/>
        <dsp:cNvSpPr/>
      </dsp:nvSpPr>
      <dsp:spPr>
        <a:xfrm>
          <a:off x="7936795" y="0"/>
          <a:ext cx="1888684" cy="12513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206248" rIns="206248" bIns="206248" numCol="1" spcCol="1270" anchor="b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Recover</a:t>
          </a:r>
        </a:p>
      </dsp:txBody>
      <dsp:txXfrm>
        <a:off x="7936795" y="0"/>
        <a:ext cx="1888684" cy="1251324"/>
      </dsp:txXfrm>
    </dsp:sp>
    <dsp:sp modelId="{FA52A7B3-7327-4065-8CF4-EBCD30B79467}">
      <dsp:nvSpPr>
        <dsp:cNvPr id="0" name=""/>
        <dsp:cNvSpPr/>
      </dsp:nvSpPr>
      <dsp:spPr>
        <a:xfrm>
          <a:off x="8724722" y="1407739"/>
          <a:ext cx="312831" cy="312831"/>
        </a:xfrm>
        <a:prstGeom prst="ellipse">
          <a:avLst/>
        </a:prstGeom>
        <a:solidFill>
          <a:srgbClr val="00EA6A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E3CE49-2CB3-4C46-9893-2003853CCAEC}">
      <dsp:nvSpPr>
        <dsp:cNvPr id="0" name=""/>
        <dsp:cNvSpPr/>
      </dsp:nvSpPr>
      <dsp:spPr>
        <a:xfrm>
          <a:off x="0" y="3399"/>
          <a:ext cx="5181600" cy="724089"/>
        </a:xfrm>
        <a:prstGeom prst="roundRect">
          <a:avLst>
            <a:gd name="adj" fmla="val 10000"/>
          </a:avLst>
        </a:prstGeom>
        <a:solidFill>
          <a:srgbClr val="007EB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0A68CF-78CB-4B31-B1F5-CB0A8AABA890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269766-0F90-43B9-AB15-6890AAC7F6B1}">
      <dsp:nvSpPr>
        <dsp:cNvPr id="0" name=""/>
        <dsp:cNvSpPr/>
      </dsp:nvSpPr>
      <dsp:spPr>
        <a:xfrm>
          <a:off x="836323" y="3399"/>
          <a:ext cx="4345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  <a:latin typeface="Sharp Sans" pitchFamily="2" charset="0"/>
              <a:ea typeface="Sharp Sans" pitchFamily="2" charset="0"/>
              <a:cs typeface="Sharp Sans" pitchFamily="2" charset="0"/>
            </a:rPr>
            <a:t>Implement Multi-Factor Authentication (MFA) to enhance security.</a:t>
          </a:r>
        </a:p>
      </dsp:txBody>
      <dsp:txXfrm>
        <a:off x="836323" y="3399"/>
        <a:ext cx="4345276" cy="724089"/>
      </dsp:txXfrm>
    </dsp:sp>
    <dsp:sp modelId="{AF89D84C-39B0-41E6-B00C-6A56B7988EAA}">
      <dsp:nvSpPr>
        <dsp:cNvPr id="0" name=""/>
        <dsp:cNvSpPr/>
      </dsp:nvSpPr>
      <dsp:spPr>
        <a:xfrm>
          <a:off x="0" y="908511"/>
          <a:ext cx="5181600" cy="724089"/>
        </a:xfrm>
        <a:prstGeom prst="roundRect">
          <a:avLst>
            <a:gd name="adj" fmla="val 10000"/>
          </a:avLst>
        </a:prstGeom>
        <a:solidFill>
          <a:srgbClr val="007EB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0D4080-1644-4FDA-88BF-D947555B6152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A2CA6F-B91A-41C5-A8AF-801462DC4272}">
      <dsp:nvSpPr>
        <dsp:cNvPr id="0" name=""/>
        <dsp:cNvSpPr/>
      </dsp:nvSpPr>
      <dsp:spPr>
        <a:xfrm>
          <a:off x="836323" y="908511"/>
          <a:ext cx="4345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  <a:latin typeface="Sharp Sans" pitchFamily="2" charset="0"/>
              <a:ea typeface="Sharp Sans" pitchFamily="2" charset="0"/>
              <a:cs typeface="Sharp Sans" pitchFamily="2" charset="0"/>
            </a:rPr>
            <a:t>Conduct regular workshops for employee cybersecurity training.</a:t>
          </a:r>
        </a:p>
      </dsp:txBody>
      <dsp:txXfrm>
        <a:off x="836323" y="908511"/>
        <a:ext cx="4345276" cy="724089"/>
      </dsp:txXfrm>
    </dsp:sp>
    <dsp:sp modelId="{63B11ED7-B27F-4D92-ADBD-138D3859D533}">
      <dsp:nvSpPr>
        <dsp:cNvPr id="0" name=""/>
        <dsp:cNvSpPr/>
      </dsp:nvSpPr>
      <dsp:spPr>
        <a:xfrm>
          <a:off x="0" y="1813624"/>
          <a:ext cx="5181600" cy="724089"/>
        </a:xfrm>
        <a:prstGeom prst="roundRect">
          <a:avLst>
            <a:gd name="adj" fmla="val 10000"/>
          </a:avLst>
        </a:prstGeom>
        <a:solidFill>
          <a:srgbClr val="007EB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0D4C86-F7B4-4F04-A008-F680ADA92C24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CF7906-3B2B-4CD1-9804-A0BCB136FBBD}">
      <dsp:nvSpPr>
        <dsp:cNvPr id="0" name=""/>
        <dsp:cNvSpPr/>
      </dsp:nvSpPr>
      <dsp:spPr>
        <a:xfrm>
          <a:off x="836323" y="1813624"/>
          <a:ext cx="4345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  <a:latin typeface="Sharp Sans" pitchFamily="2" charset="0"/>
              <a:ea typeface="Sharp Sans" pitchFamily="2" charset="0"/>
              <a:cs typeface="Sharp Sans" pitchFamily="2" charset="0"/>
            </a:rPr>
            <a:t>Upgrade to modern IT infrastructure for increased efficiency.</a:t>
          </a:r>
        </a:p>
      </dsp:txBody>
      <dsp:txXfrm>
        <a:off x="836323" y="1813624"/>
        <a:ext cx="4345276" cy="724089"/>
      </dsp:txXfrm>
    </dsp:sp>
    <dsp:sp modelId="{D80BE7AF-5738-4DC8-8DE5-BC92747E8B17}">
      <dsp:nvSpPr>
        <dsp:cNvPr id="0" name=""/>
        <dsp:cNvSpPr/>
      </dsp:nvSpPr>
      <dsp:spPr>
        <a:xfrm>
          <a:off x="0" y="2718736"/>
          <a:ext cx="5181600" cy="724089"/>
        </a:xfrm>
        <a:prstGeom prst="roundRect">
          <a:avLst>
            <a:gd name="adj" fmla="val 10000"/>
          </a:avLst>
        </a:prstGeom>
        <a:solidFill>
          <a:srgbClr val="007EB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CEE8F0-1C8A-4E38-8589-00AFD68DF061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C583B0-9541-40BE-AF6A-97BD6A9534D1}">
      <dsp:nvSpPr>
        <dsp:cNvPr id="0" name=""/>
        <dsp:cNvSpPr/>
      </dsp:nvSpPr>
      <dsp:spPr>
        <a:xfrm>
          <a:off x="836323" y="2718736"/>
          <a:ext cx="4345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  <a:latin typeface="Sharp Sans" pitchFamily="2" charset="0"/>
              <a:ea typeface="Sharp Sans" pitchFamily="2" charset="0"/>
              <a:cs typeface="Sharp Sans" pitchFamily="2" charset="0"/>
            </a:rPr>
            <a:t>Invest in Endpoint Detection and Response (EDR) technologies.</a:t>
          </a:r>
        </a:p>
      </dsp:txBody>
      <dsp:txXfrm>
        <a:off x="836323" y="2718736"/>
        <a:ext cx="4345276" cy="724089"/>
      </dsp:txXfrm>
    </dsp:sp>
    <dsp:sp modelId="{4E267A81-6E30-4DFC-9E22-659F140F2F92}">
      <dsp:nvSpPr>
        <dsp:cNvPr id="0" name=""/>
        <dsp:cNvSpPr/>
      </dsp:nvSpPr>
      <dsp:spPr>
        <a:xfrm>
          <a:off x="0" y="3623848"/>
          <a:ext cx="5181600" cy="724089"/>
        </a:xfrm>
        <a:prstGeom prst="roundRect">
          <a:avLst>
            <a:gd name="adj" fmla="val 10000"/>
          </a:avLst>
        </a:prstGeom>
        <a:solidFill>
          <a:srgbClr val="007EB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24F64B-D5FA-4934-B30C-AD5655DCE00B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6F66F8-4990-4750-A25D-C765C40A374D}">
      <dsp:nvSpPr>
        <dsp:cNvPr id="0" name=""/>
        <dsp:cNvSpPr/>
      </dsp:nvSpPr>
      <dsp:spPr>
        <a:xfrm>
          <a:off x="836323" y="3623848"/>
          <a:ext cx="4345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  <a:latin typeface="Sharp Sans" pitchFamily="2" charset="0"/>
              <a:ea typeface="Sharp Sans" pitchFamily="2" charset="0"/>
              <a:cs typeface="Sharp Sans" pitchFamily="2" charset="0"/>
            </a:rPr>
            <a:t>Utilize Risk Management Software for better risk analysis.</a:t>
          </a:r>
        </a:p>
      </dsp:txBody>
      <dsp:txXfrm>
        <a:off x="836323" y="3623848"/>
        <a:ext cx="4345276" cy="724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6A0395-ED45-4D37-B4F7-9F485169812B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ED08D-0262-41D6-9C89-CB7457128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074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153E3-8FC8-11FD-B3CC-058BC3950F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FFA4A2-AE13-6D83-7D32-223CF9443B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9242F-BC5E-35BB-A674-2E43CB7CB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79A82-588E-4387-9042-64AA7AE440A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ADFD118-A30A-9C47-14B1-E47D7D582417}"/>
              </a:ext>
            </a:extLst>
          </p:cNvPr>
          <p:cNvSpPr txBox="1">
            <a:spLocks/>
          </p:cNvSpPr>
          <p:nvPr userDrawn="1"/>
        </p:nvSpPr>
        <p:spPr>
          <a:xfrm>
            <a:off x="838200" y="635634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@ 2025 John Beatty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898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96714-23AD-FCAB-AFB5-06F4C6CBD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323A2-162C-D308-6518-C72A886DE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1B38C-757D-FA64-C85D-906996D7C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4114800" cy="365125"/>
          </a:xfrm>
        </p:spPr>
        <p:txBody>
          <a:bodyPr/>
          <a:lstStyle/>
          <a:p>
            <a:pPr algn="l"/>
            <a:r>
              <a:rPr lang="en-US" dirty="0"/>
              <a:t>@ 2025 John Beatty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D4795-3D37-5CAA-4CB7-56646ADB0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79A82-588E-4387-9042-64AA7AE44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431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73E1A-D8FB-7D20-7D9C-556BD1357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4F091-6351-CC72-DA33-12220FFB5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2CA07-07B2-166E-EFEF-66943EAED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79A82-588E-4387-9042-64AA7AE440A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B0E06F9-263E-FE6B-87A3-3F233FF00027}"/>
              </a:ext>
            </a:extLst>
          </p:cNvPr>
          <p:cNvSpPr txBox="1">
            <a:spLocks/>
          </p:cNvSpPr>
          <p:nvPr userDrawn="1"/>
        </p:nvSpPr>
        <p:spPr>
          <a:xfrm>
            <a:off x="838200" y="635634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@ 2025 John Beatty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434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428F5-6C61-58E2-F8F0-47F21B751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54EDB-87F1-2F59-1EAB-79029BE7C3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218146-1813-4DBA-45C6-2D579A3B8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B0D361-810F-2548-0AF7-D5C7E5399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79A82-588E-4387-9042-64AA7AE440A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3BFD0C0-EFA4-7B4A-ACA6-41A313FB1E88}"/>
              </a:ext>
            </a:extLst>
          </p:cNvPr>
          <p:cNvSpPr txBox="1">
            <a:spLocks/>
          </p:cNvSpPr>
          <p:nvPr userDrawn="1"/>
        </p:nvSpPr>
        <p:spPr>
          <a:xfrm>
            <a:off x="838200" y="635634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@ 2025 John Beatty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3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5964B-6BDD-32A9-3B2D-90F8AFFFA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430CD-0ABE-4405-703D-F2512A071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06CFAE-6944-ED37-B82B-3A4B5BAC3F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042D10-2A53-E3FF-9E35-76D9F4D261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F98A26-3852-49B0-1F08-FE857024CD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3D7159-8D61-8B9F-640F-16081C42E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13CA-EE42-4505-AF43-AC12C685964E}" type="datetime1">
              <a:rPr lang="en-US" smtClean="0"/>
              <a:t>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5B8581-A9FC-520E-DB92-41A1507CA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8F0625-0FF6-2DCC-F1A6-77E6C0C06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79A82-588E-4387-9042-64AA7AE44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426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1E37-8B93-2901-6AA7-4DEE2BC0B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0252B1-F162-6620-A068-72A984DFA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F8589-D5F9-4185-AEBF-B0D1B869770B}" type="datetime1">
              <a:rPr lang="en-US" smtClean="0"/>
              <a:t>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533C76-1D9A-BD3D-DA7B-F8AC29802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EB5AB-8969-6E3C-246B-A65D211CC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79A82-588E-4387-9042-64AA7AE44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187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EE977-97F3-8504-6468-19486FEC4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79A82-588E-4387-9042-64AA7AE440A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68033-6293-37F7-5DF5-14CFBA784C2C}"/>
              </a:ext>
            </a:extLst>
          </p:cNvPr>
          <p:cNvSpPr txBox="1">
            <a:spLocks/>
          </p:cNvSpPr>
          <p:nvPr userDrawn="1"/>
        </p:nvSpPr>
        <p:spPr>
          <a:xfrm>
            <a:off x="838200" y="635634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@ 2025 John Beatty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295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CECB9-C307-0AE5-EE8F-A04DA620E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13D8F-797D-35F9-A361-E8076953D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32FA62-8A79-1431-565B-A82584CEB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DD9DE-8F3A-5770-0E99-3F432D5B5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AEFEC-3E01-4C41-A2E3-F496F7D2A3B4}" type="datetime1">
              <a:rPr lang="en-US" smtClean="0"/>
              <a:t>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BFDCB1-2700-DD9D-C864-6E66ED7D4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6879BE-C9DC-BB75-90B9-86ADCCB52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79A82-588E-4387-9042-64AA7AE44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428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C209C-5943-0C49-B6E4-D68D97F1B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AFA03-F367-93B6-B62E-E43859D958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C5C2F5-55BA-9885-3D9F-C9473F144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EF9BD-2D4D-33F0-DBC1-5D25A8EAF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3CC38-08EF-4EFE-9B57-FEC1FC2B73E5}" type="datetime1">
              <a:rPr lang="en-US" smtClean="0"/>
              <a:t>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91A21-1139-25A1-7EFA-809032400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18D28-B201-A5C4-D9D6-71A3B10F3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79A82-588E-4387-9042-64AA7AE44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7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008DF-68F9-0148-C163-496012B8D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7CE0F1-953F-4277-6A61-6592926E75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3A8DB-0F0D-CC1E-2BA7-692DC4BF1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6B6EC-BF72-4CA5-8E85-149B056F5961}" type="datetime1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5B1C4-C94B-313F-783B-61DC3F1D0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04FE0-20B3-D667-A6C2-01DD9183F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79A82-588E-4387-9042-64AA7AE44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27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53E89E-00AC-D967-767B-8E5EC4D0AE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69F659-A5D9-55D0-6EC0-FDE3267B4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0A995-905B-F7B1-38F1-434D88008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20F09-A9FC-4885-9228-60DE1D6D2B34}" type="datetime1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58BE0-A45F-9139-D7BE-CA73902AD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C841A-D084-7643-5D99-A0CC06E20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79A82-588E-4387-9042-64AA7AE44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941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8D244D-2051-97AF-0801-38E5D8BA7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B15B2E-8BA5-405D-EE15-C769BA7BE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3D054-BC3C-8519-0722-458F537977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@ 2025 John Beatty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B195B-3A00-D806-A6B6-44C8647EE0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898B9-934F-F1FF-C2AA-7B423F4B30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679A82-588E-4387-9042-64AA7AE440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ue and yellow cross logo&#10;&#10;AI-generated content may be incorrect.">
            <a:extLst>
              <a:ext uri="{FF2B5EF4-FFF2-40B4-BE49-F238E27FC236}">
                <a16:creationId xmlns:a16="http://schemas.microsoft.com/office/drawing/2014/main" id="{937BE3AD-9FFC-88BF-8114-E18C6757E69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961" y="6356350"/>
            <a:ext cx="382078" cy="38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807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harp Sans Extrabold" pitchFamily="2" charset="0"/>
          <a:ea typeface="Sharp Sans Extrabold" pitchFamily="2" charset="0"/>
          <a:cs typeface="Sharp Sans Extrabold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harp Sans Medium" pitchFamily="2" charset="0"/>
          <a:ea typeface="Sharp Sans Medium" pitchFamily="2" charset="0"/>
          <a:cs typeface="Sharp Sans Medium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harp Sans Medium" pitchFamily="2" charset="0"/>
          <a:ea typeface="Sharp Sans Medium" pitchFamily="2" charset="0"/>
          <a:cs typeface="Sharp Sans Medium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harp Sans" pitchFamily="2" charset="0"/>
          <a:ea typeface="Sharp Sans" pitchFamily="2" charset="0"/>
          <a:cs typeface="Sharp Sans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harp Sans" pitchFamily="2" charset="0"/>
          <a:ea typeface="Sharp Sans" pitchFamily="2" charset="0"/>
          <a:cs typeface="Sharp Sans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harp Sans" pitchFamily="2" charset="0"/>
          <a:ea typeface="Sharp Sans" pitchFamily="2" charset="0"/>
          <a:cs typeface="Sharp Sans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21.sv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20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2E62931-8EB4-42BB-BAAB-D8757BE66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B564F3-BE6B-41D8-A1CD-219B616F8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7461" y="728664"/>
            <a:ext cx="4984813" cy="3157080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dirty="0">
                <a:solidFill>
                  <a:srgbClr val="364248"/>
                </a:solidFill>
                <a:latin typeface="Sharp Sans Extrabold" pitchFamily="2" charset="0"/>
                <a:ea typeface="Sharp Sans Extrabold" pitchFamily="2" charset="0"/>
                <a:cs typeface="Sharp Sans Extrabold" pitchFamily="2" charset="0"/>
              </a:rPr>
              <a:t>Empowering you to </a:t>
            </a:r>
            <a:br>
              <a:rPr lang="en-US" sz="5200" dirty="0">
                <a:solidFill>
                  <a:srgbClr val="364248"/>
                </a:solidFill>
                <a:latin typeface="Sharp Sans Extrabold" pitchFamily="2" charset="0"/>
                <a:ea typeface="Sharp Sans Extrabold" pitchFamily="2" charset="0"/>
                <a:cs typeface="Sharp Sans Extrabold" pitchFamily="2" charset="0"/>
              </a:rPr>
            </a:br>
            <a:r>
              <a:rPr lang="en-US" sz="5200" dirty="0">
                <a:solidFill>
                  <a:srgbClr val="364248"/>
                </a:solidFill>
                <a:latin typeface="Sharp Sans Extrabold" pitchFamily="2" charset="0"/>
                <a:ea typeface="Sharp Sans Extrabold" pitchFamily="2" charset="0"/>
                <a:cs typeface="Sharp Sans Extrabold" pitchFamily="2" charset="0"/>
              </a:rPr>
              <a:t>live well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823ABB-33B8-BD53-CC3B-F301A9E3F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67461" y="4072045"/>
            <a:ext cx="4984813" cy="2057289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harp Sans Semibold" pitchFamily="2" charset="0"/>
                <a:ea typeface="Sharp Sans Semibold" pitchFamily="2" charset="0"/>
                <a:cs typeface="Sharp Sans Semibold" pitchFamily="2" charset="0"/>
              </a:rPr>
              <a:t>IT Risk Assessment</a:t>
            </a:r>
          </a:p>
        </p:txBody>
      </p:sp>
      <p:pic>
        <p:nvPicPr>
          <p:cNvPr id="6" name="Picture Placeholder 5" descr="A large building with a fountain in front of it&#10;&#10;AI-generated content may be incorrect.">
            <a:extLst>
              <a:ext uri="{FF2B5EF4-FFF2-40B4-BE49-F238E27FC236}">
                <a16:creationId xmlns:a16="http://schemas.microsoft.com/office/drawing/2014/main" id="{B042FB11-DACB-B4DD-4266-8FA8D64ADDA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27" r="21096"/>
          <a:stretch/>
        </p:blipFill>
        <p:spPr>
          <a:xfrm>
            <a:off x="0" y="2025"/>
            <a:ext cx="6005512" cy="6857990"/>
          </a:xfrm>
          <a:prstGeom prst="rect">
            <a:avLst/>
          </a:prstGeom>
        </p:spPr>
      </p:pic>
      <p:pic>
        <p:nvPicPr>
          <p:cNvPr id="8" name="Picture 7" descr="A blue and yellow cross logo&#10;&#10;AI-generated content may be incorrect.">
            <a:extLst>
              <a:ext uri="{FF2B5EF4-FFF2-40B4-BE49-F238E27FC236}">
                <a16:creationId xmlns:a16="http://schemas.microsoft.com/office/drawing/2014/main" id="{6AAF2D7B-0C0A-5F13-799F-04D9527D15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5950" y="2436019"/>
            <a:ext cx="1985961" cy="198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817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5F694-6994-52AE-EEEC-4DFC85B95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364248"/>
                </a:solidFill>
                <a:latin typeface="Sharp Sans Semibold" pitchFamily="2" charset="0"/>
                <a:ea typeface="Sharp Sans Semibold" pitchFamily="2" charset="0"/>
                <a:cs typeface="Sharp Sans Semibold" pitchFamily="2" charset="0"/>
              </a:rPr>
              <a:t>Agenda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B4609A9-931A-6D63-8C89-EAE8762741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5634294"/>
              </p:ext>
            </p:extLst>
          </p:nvPr>
        </p:nvGraphicFramePr>
        <p:xfrm>
          <a:off x="3375818" y="1946720"/>
          <a:ext cx="5440363" cy="20793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543">
                  <a:extLst>
                    <a:ext uri="{9D8B030D-6E8A-4147-A177-3AD203B41FA5}">
                      <a16:colId xmlns:a16="http://schemas.microsoft.com/office/drawing/2014/main" val="353245612"/>
                    </a:ext>
                  </a:extLst>
                </a:gridCol>
                <a:gridCol w="4525820">
                  <a:extLst>
                    <a:ext uri="{9D8B030D-6E8A-4147-A177-3AD203B41FA5}">
                      <a16:colId xmlns:a16="http://schemas.microsoft.com/office/drawing/2014/main" val="2920499117"/>
                    </a:ext>
                  </a:extLst>
                </a:gridCol>
              </a:tblGrid>
              <a:tr h="69311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364248"/>
                          </a:solidFill>
                          <a:latin typeface="Sharp Sans Extrabold" pitchFamily="2" charset="0"/>
                          <a:ea typeface="Sharp Sans Extrabold" pitchFamily="2" charset="0"/>
                          <a:cs typeface="Sharp Sans Extrabold" pitchFamily="2" charset="0"/>
                        </a:rPr>
                        <a:t>04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7EB4"/>
                          </a:solidFill>
                          <a:latin typeface="Sharp Sans Semibold" pitchFamily="2" charset="0"/>
                          <a:ea typeface="Sharp Sans Semibold" pitchFamily="2" charset="0"/>
                          <a:cs typeface="Sharp Sans Semibold" pitchFamily="2" charset="0"/>
                          <a:hlinkClick r:id="rId2" action="ppaction://hlinksldjump"/>
                        </a:rPr>
                        <a:t>Understanding the Challenge</a:t>
                      </a:r>
                      <a:endParaRPr lang="en-US" sz="1600" dirty="0">
                        <a:solidFill>
                          <a:srgbClr val="007EB4"/>
                        </a:solidFill>
                        <a:latin typeface="Sharp Sans Semibold" pitchFamily="2" charset="0"/>
                        <a:ea typeface="Sharp Sans Semibold" pitchFamily="2" charset="0"/>
                        <a:cs typeface="Sharp Sans Semibold" pitchFamily="2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rgbClr val="007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414376"/>
                  </a:ext>
                </a:extLst>
              </a:tr>
              <a:tr h="69311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364248"/>
                          </a:solidFill>
                          <a:latin typeface="Sharp Sans Extrabold" pitchFamily="2" charset="0"/>
                          <a:ea typeface="Sharp Sans Extrabold" pitchFamily="2" charset="0"/>
                          <a:cs typeface="Sharp Sans Extrabold" pitchFamily="2" charset="0"/>
                        </a:rPr>
                        <a:t>05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7EB4"/>
                          </a:solidFill>
                          <a:latin typeface="Sharp Sans Semibold" pitchFamily="2" charset="0"/>
                          <a:ea typeface="Sharp Sans Semibold" pitchFamily="2" charset="0"/>
                          <a:cs typeface="Sharp Sans Semibold" pitchFamily="2" charset="0"/>
                          <a:hlinkClick r:id="rId3" action="ppaction://hlinksldjump"/>
                        </a:rPr>
                        <a:t>Our Strategic Approach </a:t>
                      </a:r>
                      <a:endParaRPr lang="en-US" sz="1600" dirty="0">
                        <a:solidFill>
                          <a:srgbClr val="007EB4"/>
                        </a:solidFill>
                        <a:latin typeface="Sharp Sans Semibold" pitchFamily="2" charset="0"/>
                        <a:ea typeface="Sharp Sans Semibold" pitchFamily="2" charset="0"/>
                        <a:cs typeface="Sharp Sans Semibold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007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0566628"/>
                  </a:ext>
                </a:extLst>
              </a:tr>
              <a:tr h="69311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364248"/>
                          </a:solidFill>
                          <a:latin typeface="Sharp Sans Extrabold" pitchFamily="2" charset="0"/>
                          <a:ea typeface="Sharp Sans Extrabold" pitchFamily="2" charset="0"/>
                          <a:cs typeface="Sharp Sans Extrabold" pitchFamily="2" charset="0"/>
                        </a:rPr>
                        <a:t>07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7EB4"/>
                          </a:solidFill>
                          <a:latin typeface="Sharp Sans Semibold" pitchFamily="2" charset="0"/>
                          <a:ea typeface="Sharp Sans Semibold" pitchFamily="2" charset="0"/>
                          <a:cs typeface="Sharp Sans Semibold" pitchFamily="2" charset="0"/>
                          <a:hlinkClick r:id="rId4" action="ppaction://hlinksldjump"/>
                        </a:rPr>
                        <a:t>Execution Plan</a:t>
                      </a:r>
                      <a:endParaRPr lang="en-US" sz="1600" dirty="0">
                        <a:solidFill>
                          <a:srgbClr val="007EB4"/>
                        </a:solidFill>
                        <a:latin typeface="Sharp Sans Semibold" pitchFamily="2" charset="0"/>
                        <a:ea typeface="Sharp Sans Semibold" pitchFamily="2" charset="0"/>
                        <a:cs typeface="Sharp Sans Semibold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007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685427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DA9FC-41DD-5C15-DBA9-63D04C082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79A82-588E-4387-9042-64AA7AE440A7}" type="slidenum">
              <a:rPr lang="en-US" smtClean="0"/>
              <a:t>2</a:t>
            </a:fld>
            <a:endParaRPr lang="en-US" dirty="0"/>
          </a:p>
        </p:txBody>
      </p:sp>
      <p:pic>
        <p:nvPicPr>
          <p:cNvPr id="9" name="Picture 8" descr="A blue and yellow cross logo&#10;&#10;AI-generated content may be incorrect.">
            <a:extLst>
              <a:ext uri="{FF2B5EF4-FFF2-40B4-BE49-F238E27FC236}">
                <a16:creationId xmlns:a16="http://schemas.microsoft.com/office/drawing/2014/main" id="{45BB649D-B003-3B97-BEA1-65BD4DDE1C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437" y="6356350"/>
            <a:ext cx="365126" cy="365126"/>
          </a:xfrm>
          <a:prstGeom prst="rect">
            <a:avLst/>
          </a:prstGeom>
        </p:spPr>
      </p:pic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97BDCA0F-CD58-6452-67B5-48899C754C6F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@ 2025 John Beatty</a:t>
            </a:r>
          </a:p>
        </p:txBody>
      </p:sp>
    </p:spTree>
    <p:extLst>
      <p:ext uri="{BB962C8B-B14F-4D97-AF65-F5344CB8AC3E}">
        <p14:creationId xmlns:p14="http://schemas.microsoft.com/office/powerpoint/2010/main" val="1967913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5E389A-855C-FB22-8201-AB47918AD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@ 2025 John Beatty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EFC847-3D7F-773E-7EE8-DE2F63952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79A82-588E-4387-9042-64AA7AE440A7}" type="slidenum">
              <a:rPr lang="en-US" smtClean="0"/>
              <a:t>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92787E-1387-624C-B687-21ADCF3424C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04748"/>
            <a:ext cx="12192000" cy="113351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588C2E4-D37D-E90C-606F-A67C53E73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919" y="539436"/>
            <a:ext cx="4984813" cy="664139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dirty="0">
                <a:solidFill>
                  <a:srgbClr val="364248"/>
                </a:solidFill>
              </a:rPr>
              <a:t>Executive summary</a:t>
            </a:r>
            <a:endParaRPr lang="en-US" sz="3200" dirty="0">
              <a:solidFill>
                <a:srgbClr val="364248"/>
              </a:solidFill>
              <a:latin typeface="Sharp Sans Extrabold" pitchFamily="2" charset="0"/>
              <a:ea typeface="Sharp Sans Extrabold" pitchFamily="2" charset="0"/>
              <a:cs typeface="Sharp Sans Extrabold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2F9707-4711-F009-FC83-17F9F2B803F4}"/>
              </a:ext>
            </a:extLst>
          </p:cNvPr>
          <p:cNvSpPr txBox="1"/>
          <p:nvPr/>
        </p:nvSpPr>
        <p:spPr>
          <a:xfrm>
            <a:off x="4589526" y="4503904"/>
            <a:ext cx="6764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64248"/>
                </a:solidFill>
                <a:latin typeface="Sharp Sans Medium" pitchFamily="2" charset="0"/>
                <a:ea typeface="Sharp Sans Medium" pitchFamily="2" charset="0"/>
                <a:cs typeface="Sharp Sans Medium" pitchFamily="2" charset="0"/>
              </a:rPr>
              <a:t>Key outcomes include reduced risk exposure, enhanced stakeholder confidence, and improved decision-making.</a:t>
            </a:r>
          </a:p>
        </p:txBody>
      </p:sp>
      <p:pic>
        <p:nvPicPr>
          <p:cNvPr id="14" name="Graphic 13" descr="Shield Tick with solid fill">
            <a:extLst>
              <a:ext uri="{FF2B5EF4-FFF2-40B4-BE49-F238E27FC236}">
                <a16:creationId xmlns:a16="http://schemas.microsoft.com/office/drawing/2014/main" id="{D2E8609D-CAAE-B266-F4C6-53D31FB7DF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1352" y="1935603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C0C3AE8-27D5-CFCD-F2E3-20D516677623}"/>
              </a:ext>
            </a:extLst>
          </p:cNvPr>
          <p:cNvSpPr txBox="1"/>
          <p:nvPr/>
        </p:nvSpPr>
        <p:spPr>
          <a:xfrm>
            <a:off x="1956816" y="2084832"/>
            <a:ext cx="71848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64248"/>
                </a:solidFill>
                <a:latin typeface="Sharp Sans Medium" pitchFamily="2" charset="0"/>
                <a:ea typeface="Sharp Sans Medium" pitchFamily="2" charset="0"/>
                <a:cs typeface="Sharp Sans Medium" pitchFamily="2" charset="0"/>
              </a:rPr>
              <a:t>This IT Risk Strategy outlines a proactive approach to identifying, mitigating, and managing IT risks.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980F95-C285-B917-C018-321E3F002AA3}"/>
              </a:ext>
            </a:extLst>
          </p:cNvPr>
          <p:cNvSpPr txBox="1"/>
          <p:nvPr/>
        </p:nvSpPr>
        <p:spPr>
          <a:xfrm>
            <a:off x="3188493" y="3271508"/>
            <a:ext cx="71848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64248"/>
                </a:solidFill>
                <a:latin typeface="Sharp Sans Medium" pitchFamily="2" charset="0"/>
                <a:ea typeface="Sharp Sans Medium" pitchFamily="2" charset="0"/>
                <a:cs typeface="Sharp Sans Medium" pitchFamily="2" charset="0"/>
              </a:rPr>
              <a:t>Aligns with organizational goals to ensure operational resilience, regulatory compliance, and data security.</a:t>
            </a:r>
          </a:p>
          <a:p>
            <a:endParaRPr lang="en-US" dirty="0"/>
          </a:p>
        </p:txBody>
      </p:sp>
      <p:pic>
        <p:nvPicPr>
          <p:cNvPr id="19" name="Graphic 18" descr="Bar graph with upward trend with solid fill">
            <a:extLst>
              <a:ext uri="{FF2B5EF4-FFF2-40B4-BE49-F238E27FC236}">
                <a16:creationId xmlns:a16="http://schemas.microsoft.com/office/drawing/2014/main" id="{0AF60CE1-E08F-8D51-C18C-E9530D87C3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42659" y="4369869"/>
            <a:ext cx="914400" cy="914400"/>
          </a:xfrm>
          <a:prstGeom prst="rect">
            <a:avLst/>
          </a:prstGeom>
        </p:spPr>
      </p:pic>
      <p:pic>
        <p:nvPicPr>
          <p:cNvPr id="21" name="Graphic 20" descr="Checklist with solid fill">
            <a:extLst>
              <a:ext uri="{FF2B5EF4-FFF2-40B4-BE49-F238E27FC236}">
                <a16:creationId xmlns:a16="http://schemas.microsoft.com/office/drawing/2014/main" id="{0D3B7780-73F7-3EE3-5114-FA31938D75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72925" y="313305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765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F8C89180-0469-4F06-9DE1-12340754577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810"/>
            <a:ext cx="12192000" cy="10892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4FC1CF-C1B3-7205-3809-D1DC3FD82E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581025" y="484519"/>
            <a:ext cx="6348984" cy="777875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364248"/>
                </a:solidFill>
              </a:rPr>
              <a:t>Current IT Risk Landscape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A66C16-1B34-B76D-9AB6-9B2AD483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@ 2025 John Beatty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302921-F402-E959-BA5F-0A4107BB2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79A82-588E-4387-9042-64AA7AE440A7}" type="slidenum">
              <a:rPr lang="en-US" smtClean="0"/>
              <a:t>4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865D9A-E152-0F67-E9F5-4D8DB5B0D4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98017" y="1664235"/>
            <a:ext cx="2857500" cy="4390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038AE2-EC22-A858-29BF-3D8B7F5D73F5}"/>
              </a:ext>
            </a:extLst>
          </p:cNvPr>
          <p:cNvSpPr/>
          <p:nvPr/>
        </p:nvSpPr>
        <p:spPr>
          <a:xfrm>
            <a:off x="8496300" y="1691783"/>
            <a:ext cx="2857500" cy="4390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EA1912-B402-486F-DE2F-A9F527FA64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97158" y="1691783"/>
            <a:ext cx="2857500" cy="4390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562474-68D8-C306-285B-6F1888130B5A}"/>
              </a:ext>
            </a:extLst>
          </p:cNvPr>
          <p:cNvSpPr>
            <a:spLocks/>
          </p:cNvSpPr>
          <p:nvPr/>
        </p:nvSpPr>
        <p:spPr>
          <a:xfrm>
            <a:off x="1219200" y="1971675"/>
            <a:ext cx="2162175" cy="990600"/>
          </a:xfrm>
          <a:prstGeom prst="rect">
            <a:avLst/>
          </a:prstGeom>
          <a:solidFill>
            <a:srgbClr val="3642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>
                <a:latin typeface="Sharp Sans Medium" pitchFamily="2" charset="0"/>
                <a:ea typeface="Sharp Sans Medium" pitchFamily="2" charset="0"/>
                <a:cs typeface="Sharp Sans Medium" pitchFamily="2" charset="0"/>
              </a:rPr>
              <a:t>Cybersecurity Threats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EF78C7-6561-EBF2-BB84-77D0ED2888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17104" y="3103629"/>
            <a:ext cx="2162175" cy="16493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364248"/>
                </a:solidFill>
                <a:latin typeface="Sharp Sans" pitchFamily="2" charset="0"/>
                <a:ea typeface="Sharp Sans" pitchFamily="2" charset="0"/>
                <a:cs typeface="Sharp Sans" pitchFamily="2" charset="0"/>
              </a:rPr>
              <a:t>Increasing frequency of phishing, ransomware, and malware attacks.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DC69DD-715D-2EDC-0B17-A1A2F4FCEAB0}"/>
              </a:ext>
            </a:extLst>
          </p:cNvPr>
          <p:cNvSpPr>
            <a:spLocks/>
          </p:cNvSpPr>
          <p:nvPr/>
        </p:nvSpPr>
        <p:spPr>
          <a:xfrm>
            <a:off x="5043773" y="1971675"/>
            <a:ext cx="2162175" cy="990600"/>
          </a:xfrm>
          <a:prstGeom prst="rect">
            <a:avLst/>
          </a:prstGeom>
          <a:solidFill>
            <a:srgbClr val="3642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>
                <a:latin typeface="Sharp Sans Medium" pitchFamily="2" charset="0"/>
                <a:ea typeface="Sharp Sans Medium" pitchFamily="2" charset="0"/>
                <a:cs typeface="Sharp Sans Medium" pitchFamily="2" charset="0"/>
              </a:rPr>
              <a:t>Data Privacy Concerns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631878-82A1-D510-4A43-15BB39D050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1677" y="3103629"/>
            <a:ext cx="2162175" cy="16493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364248"/>
                </a:solidFill>
                <a:latin typeface="Sharp Sans" pitchFamily="2" charset="0"/>
                <a:ea typeface="Sharp Sans" pitchFamily="2" charset="0"/>
                <a:cs typeface="Sharp Sans" pitchFamily="2" charset="0"/>
              </a:rPr>
              <a:t>Stricter regulations (e.g., HIPAA, GDPR) require robust compliance measures.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D9DB41-1FB2-1BF9-6B12-2E35CEB4C032}"/>
              </a:ext>
            </a:extLst>
          </p:cNvPr>
          <p:cNvSpPr>
            <a:spLocks/>
          </p:cNvSpPr>
          <p:nvPr/>
        </p:nvSpPr>
        <p:spPr>
          <a:xfrm>
            <a:off x="8867775" y="1971675"/>
            <a:ext cx="2162175" cy="990600"/>
          </a:xfrm>
          <a:prstGeom prst="rect">
            <a:avLst/>
          </a:prstGeom>
          <a:solidFill>
            <a:srgbClr val="3642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>
                <a:latin typeface="Sharp Sans Medium" pitchFamily="2" charset="0"/>
                <a:ea typeface="Sharp Sans Medium" pitchFamily="2" charset="0"/>
                <a:cs typeface="Sharp Sans Medium" pitchFamily="2" charset="0"/>
              </a:rPr>
              <a:t>Third-Party Risks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AD67EE5-E443-3679-190A-49054CAF0C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65679" y="3103629"/>
            <a:ext cx="2162175" cy="16493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364248"/>
                </a:solidFill>
                <a:latin typeface="Sharp Sans" pitchFamily="2" charset="0"/>
                <a:ea typeface="Sharp Sans" pitchFamily="2" charset="0"/>
                <a:cs typeface="Sharp Sans" pitchFamily="2" charset="0"/>
              </a:rPr>
              <a:t>Vendor vulnerabilities impacting organizational security.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4604C54-2BF3-2E05-BADF-E5930238E0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46003" y="1620701"/>
            <a:ext cx="701947" cy="701947"/>
          </a:xfrm>
          <a:prstGeom prst="ellipse">
            <a:avLst/>
          </a:prstGeom>
          <a:solidFill>
            <a:schemeClr val="bg1"/>
          </a:solidFill>
          <a:ln>
            <a:solidFill>
              <a:srgbClr val="3642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364248"/>
                </a:solidFill>
              </a:ln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89191D8-C233-2E03-81BE-958D57A110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44383" y="1624835"/>
            <a:ext cx="701947" cy="701947"/>
          </a:xfrm>
          <a:prstGeom prst="ellipse">
            <a:avLst/>
          </a:prstGeom>
          <a:solidFill>
            <a:schemeClr val="bg1"/>
          </a:solidFill>
          <a:ln>
            <a:solidFill>
              <a:srgbClr val="3642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364248"/>
                </a:solidFill>
              </a:ln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1431A4B-2788-4E12-0A4D-3611F8BA64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00434" y="1620700"/>
            <a:ext cx="701947" cy="701947"/>
          </a:xfrm>
          <a:prstGeom prst="ellipse">
            <a:avLst/>
          </a:prstGeom>
          <a:solidFill>
            <a:schemeClr val="bg1"/>
          </a:solidFill>
          <a:ln>
            <a:solidFill>
              <a:srgbClr val="3642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364248"/>
                </a:solidFill>
              </a:ln>
            </a:endParaRPr>
          </a:p>
        </p:txBody>
      </p:sp>
      <p:pic>
        <p:nvPicPr>
          <p:cNvPr id="25" name="Graphic 24" descr="Internet Of Things outline">
            <a:extLst>
              <a:ext uri="{FF2B5EF4-FFF2-40B4-BE49-F238E27FC236}">
                <a16:creationId xmlns:a16="http://schemas.microsoft.com/office/drawing/2014/main" id="{3C90AA6C-2CAA-5AA7-D98D-8AC4BF6765F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65053" y="1633605"/>
            <a:ext cx="675705" cy="675705"/>
          </a:xfrm>
          <a:prstGeom prst="rect">
            <a:avLst/>
          </a:prstGeom>
        </p:spPr>
      </p:pic>
      <p:pic>
        <p:nvPicPr>
          <p:cNvPr id="27" name="Graphic 26" descr="Database with solid fill">
            <a:extLst>
              <a:ext uri="{FF2B5EF4-FFF2-40B4-BE49-F238E27FC236}">
                <a16:creationId xmlns:a16="http://schemas.microsoft.com/office/drawing/2014/main" id="{4E8B1AE2-669F-9FAF-157C-3BCE321EA2F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44383" y="1633605"/>
            <a:ext cx="701947" cy="701947"/>
          </a:xfrm>
          <a:prstGeom prst="rect">
            <a:avLst/>
          </a:prstGeom>
        </p:spPr>
      </p:pic>
      <p:pic>
        <p:nvPicPr>
          <p:cNvPr id="29" name="Graphic 28" descr="Cycle with people with solid fill">
            <a:extLst>
              <a:ext uri="{FF2B5EF4-FFF2-40B4-BE49-F238E27FC236}">
                <a16:creationId xmlns:a16="http://schemas.microsoft.com/office/drawing/2014/main" id="{5F86E6B6-9B43-56E9-06CC-4CE7306F9B1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00434" y="1605030"/>
            <a:ext cx="701947" cy="701947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E189BA0C-BCC8-1167-F729-1CDC26E686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17104" y="4914900"/>
            <a:ext cx="2162175" cy="400050"/>
          </a:xfrm>
          <a:prstGeom prst="rect">
            <a:avLst/>
          </a:prstGeom>
          <a:solidFill>
            <a:srgbClr val="91A4A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Risk Level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B794034-7558-DBC5-9470-BE10A64D60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17104" y="5314950"/>
            <a:ext cx="2162175" cy="542925"/>
          </a:xfrm>
          <a:prstGeom prst="rect">
            <a:avLst/>
          </a:prstGeom>
          <a:solidFill>
            <a:srgbClr val="FFB71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Moderate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D3641FF-7B1C-90EC-C7C7-DCD772DF64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1677" y="4914900"/>
            <a:ext cx="2162175" cy="400050"/>
          </a:xfrm>
          <a:prstGeom prst="rect">
            <a:avLst/>
          </a:prstGeom>
          <a:solidFill>
            <a:srgbClr val="91A4A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Risk Level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2DFFDE1-C80E-79D1-49A0-9FE8E8F83A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1677" y="5314950"/>
            <a:ext cx="2162175" cy="542925"/>
          </a:xfrm>
          <a:prstGeom prst="rect">
            <a:avLst/>
          </a:prstGeom>
          <a:solidFill>
            <a:srgbClr val="FFB71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Moderate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0557AD4-ACF3-4556-4987-E05255ADA3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65679" y="4914900"/>
            <a:ext cx="2162175" cy="400050"/>
          </a:xfrm>
          <a:prstGeom prst="rect">
            <a:avLst/>
          </a:prstGeom>
          <a:solidFill>
            <a:srgbClr val="91A4A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Risk Level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C3C15CE-3667-295B-EE57-B59050D211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65679" y="5314950"/>
            <a:ext cx="2162175" cy="5429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Low</a:t>
            </a:r>
          </a:p>
        </p:txBody>
      </p:sp>
    </p:spTree>
    <p:extLst>
      <p:ext uri="{BB962C8B-B14F-4D97-AF65-F5344CB8AC3E}">
        <p14:creationId xmlns:p14="http://schemas.microsoft.com/office/powerpoint/2010/main" val="426699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4F453-7402-4B8B-F562-E2FFE07C4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33187501-CE1A-B6DB-FFDA-C67DA6C8AA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026" y="252610"/>
            <a:ext cx="12123947" cy="10892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53E917-B306-BA6D-28C7-6D0B7B076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484519"/>
            <a:ext cx="6819900" cy="777875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364248"/>
                </a:solidFill>
              </a:rPr>
              <a:t>Strategic Goals &amp; Framework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AB4D55-EEFB-2A9A-F0CB-BFA3DBA42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@ 2025 John Beatty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792A50-C82B-FF93-352A-25264A528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79A82-588E-4387-9042-64AA7AE440A7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FED6C4-54FC-D16D-B121-0D6DCF957399}"/>
              </a:ext>
            </a:extLst>
          </p:cNvPr>
          <p:cNvSpPr txBox="1"/>
          <p:nvPr/>
        </p:nvSpPr>
        <p:spPr>
          <a:xfrm>
            <a:off x="3047998" y="3422867"/>
            <a:ext cx="65277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lang="en-US" b="1" i="0" dirty="0">
                <a:solidFill>
                  <a:srgbClr val="364248"/>
                </a:solidFill>
                <a:effectLst/>
                <a:latin typeface="Sharp Sans" pitchFamily="2" charset="0"/>
                <a:ea typeface="Sharp Sans" pitchFamily="2" charset="0"/>
                <a:cs typeface="Sharp Sans" pitchFamily="2" charset="0"/>
              </a:rPr>
              <a:t>Improve Incident Response:</a:t>
            </a:r>
            <a:r>
              <a:rPr lang="en-US" b="0" i="0" dirty="0">
                <a:solidFill>
                  <a:srgbClr val="364248"/>
                </a:solidFill>
                <a:effectLst/>
                <a:latin typeface="Sharp Sans" pitchFamily="2" charset="0"/>
                <a:ea typeface="Sharp Sans" pitchFamily="2" charset="0"/>
                <a:cs typeface="Sharp Sans" pitchFamily="2" charset="0"/>
              </a:rPr>
              <a:t> Reduce downtime and financial impact of security breaches.</a:t>
            </a:r>
            <a:br>
              <a:rPr lang="en-US" dirty="0">
                <a:solidFill>
                  <a:srgbClr val="364248"/>
                </a:solidFill>
              </a:rPr>
            </a:br>
            <a:endParaRPr lang="en-US" dirty="0">
              <a:solidFill>
                <a:srgbClr val="364248"/>
              </a:solidFill>
            </a:endParaRP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5CD05805-A2CB-72A5-60FD-71A8AE641B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6516311"/>
              </p:ext>
            </p:extLst>
          </p:nvPr>
        </p:nvGraphicFramePr>
        <p:xfrm>
          <a:off x="749300" y="3729689"/>
          <a:ext cx="10922000" cy="31283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A043C89A-A4C7-BBEA-DF06-744C6364BFCD}"/>
              </a:ext>
            </a:extLst>
          </p:cNvPr>
          <p:cNvSpPr txBox="1"/>
          <p:nvPr/>
        </p:nvSpPr>
        <p:spPr>
          <a:xfrm>
            <a:off x="3048000" y="1582053"/>
            <a:ext cx="652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rgbClr val="364248"/>
                </a:solidFill>
                <a:effectLst/>
                <a:latin typeface="Sharp Sans" pitchFamily="2" charset="0"/>
                <a:ea typeface="Sharp Sans" pitchFamily="2" charset="0"/>
                <a:cs typeface="Sharp Sans" pitchFamily="2" charset="0"/>
              </a:rPr>
              <a:t>Enhance Data Security:</a:t>
            </a:r>
            <a:r>
              <a:rPr lang="en-US" b="0" i="0" dirty="0">
                <a:solidFill>
                  <a:srgbClr val="364248"/>
                </a:solidFill>
                <a:effectLst/>
                <a:latin typeface="Sharp Sans" pitchFamily="2" charset="0"/>
                <a:ea typeface="Sharp Sans" pitchFamily="2" charset="0"/>
                <a:cs typeface="Sharp Sans" pitchFamily="2" charset="0"/>
              </a:rPr>
              <a:t> Protect sensitive data through advanced encryption and access controls.</a:t>
            </a:r>
          </a:p>
          <a:p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1C6136-00B1-2E69-65A4-26A8CC64FBB6}"/>
              </a:ext>
            </a:extLst>
          </p:cNvPr>
          <p:cNvSpPr txBox="1"/>
          <p:nvPr/>
        </p:nvSpPr>
        <p:spPr>
          <a:xfrm>
            <a:off x="3047999" y="2516702"/>
            <a:ext cx="652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rgbClr val="364248"/>
                </a:solidFill>
                <a:effectLst/>
                <a:latin typeface="Sharp Sans" pitchFamily="2" charset="0"/>
                <a:ea typeface="Sharp Sans" pitchFamily="2" charset="0"/>
                <a:cs typeface="Sharp Sans" pitchFamily="2" charset="0"/>
              </a:rPr>
              <a:t>Ensure Regulatory Compliance:</a:t>
            </a:r>
            <a:r>
              <a:rPr lang="en-US" b="0" i="0" dirty="0">
                <a:solidFill>
                  <a:srgbClr val="364248"/>
                </a:solidFill>
                <a:effectLst/>
                <a:latin typeface="Sharp Sans" pitchFamily="2" charset="0"/>
                <a:ea typeface="Sharp Sans" pitchFamily="2" charset="0"/>
                <a:cs typeface="Sharp Sans" pitchFamily="2" charset="0"/>
              </a:rPr>
              <a:t> Meet all legal and industry-specific requirements.</a:t>
            </a:r>
          </a:p>
          <a:p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AE75157-CF75-B5BB-C2B0-5126B662795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24679" y="1582053"/>
            <a:ext cx="583042" cy="58304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CFAC99C-E4F5-6B51-6EC7-357E101915A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75798" y="1533799"/>
            <a:ext cx="648858" cy="64885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CC1D93E-B73E-3E1D-CB65-355E044ADA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24678" y="2502151"/>
            <a:ext cx="583042" cy="58304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3124B64-A8FF-9780-B455-C02396A4BC6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75797" y="2453897"/>
            <a:ext cx="648858" cy="648858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4BCC88E8-3B23-89F3-B984-0985E41AB13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24678" y="3404005"/>
            <a:ext cx="583042" cy="583042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107AA41-753A-93F6-B178-5EE97ABC1DB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75797" y="3355751"/>
            <a:ext cx="648858" cy="64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431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dgm id="{B5530226-C72B-4E66-9F25-E688EE747E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>
                                            <p:graphicEl>
                                              <a:dgm id="{B5530226-C72B-4E66-9F25-E688EE747EF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dgm id="{64089A85-30DF-4CAB-A779-9A54938911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">
                                            <p:graphicEl>
                                              <a:dgm id="{64089A85-30DF-4CAB-A779-9A54938911A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dgm id="{2EC04BD6-B547-4E06-A1EF-112D01D381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0">
                                            <p:graphicEl>
                                              <a:dgm id="{2EC04BD6-B547-4E06-A1EF-112D01D3812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dgm id="{CD5BA655-3882-41E2-8374-96402E8991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0">
                                            <p:graphicEl>
                                              <a:dgm id="{CD5BA655-3882-41E2-8374-96402E8991F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dgm id="{3324FC26-DCB6-4792-934A-1C261883B1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">
                                            <p:graphicEl>
                                              <a:dgm id="{3324FC26-DCB6-4792-934A-1C261883B17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dgm id="{82DC3443-1254-489A-A23A-0F3C822D1B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">
                                            <p:graphicEl>
                                              <a:dgm id="{82DC3443-1254-489A-A23A-0F3C822D1B5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dgm id="{3608C52B-1395-483B-B2AB-D4B3EC37E4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0">
                                            <p:graphicEl>
                                              <a:dgm id="{3608C52B-1395-483B-B2AB-D4B3EC37E4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dgm id="{B3829730-A7E2-44D3-9664-1B0981C935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0">
                                            <p:graphicEl>
                                              <a:dgm id="{B3829730-A7E2-44D3-9664-1B0981C935F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dgm id="{7550F96B-3B54-430A-B7A0-AFC129335C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0">
                                            <p:graphicEl>
                                              <a:dgm id="{7550F96B-3B54-430A-B7A0-AFC129335CE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dgm id="{FA52A7B3-7327-4065-8CF4-EBCD30B794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0">
                                            <p:graphicEl>
                                              <a:dgm id="{FA52A7B3-7327-4065-8CF4-EBCD30B7946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dgm id="{946CD886-159B-41B9-91A2-D658F65D38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0">
                                            <p:graphicEl>
                                              <a:dgm id="{946CD886-159B-41B9-91A2-D658F65D38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0" grpId="0">
        <p:bldSub>
          <a:bldDgm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AFC4A-3EA4-A75D-48A6-C06F591AC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94331B8D-A8C8-87AB-2C0B-94FBF8EC7C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026" y="252610"/>
            <a:ext cx="12123947" cy="10892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2A4C99-1E3D-8888-4FD9-92E25EC78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4" y="476251"/>
            <a:ext cx="7439025" cy="786144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364248"/>
                </a:solidFill>
              </a:rPr>
              <a:t>Key Initiatives &amp; Tech Investments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BB11F6-4175-54A1-CAAD-3CD9C43D7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@ 2025 John Beatty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BB2C86-0B7D-34F5-0549-A0E107E09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79A82-588E-4387-9042-64AA7AE440A7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F7EC45D-35D7-A535-0A7E-D27381FE56C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04240313"/>
              </p:ext>
            </p:extLst>
          </p:nvPr>
        </p:nvGraphicFramePr>
        <p:xfrm>
          <a:off x="838200" y="1673458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C23AAEF7-207C-F9B2-050C-7984AC079F20}"/>
              </a:ext>
            </a:extLst>
          </p:cNvPr>
          <p:cNvSpPr txBox="1"/>
          <p:nvPr/>
        </p:nvSpPr>
        <p:spPr>
          <a:xfrm>
            <a:off x="7804727" y="2828835"/>
            <a:ext cx="33158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364248"/>
                </a:solidFill>
                <a:latin typeface="Sharp Sans Semibold" pitchFamily="2" charset="0"/>
                <a:ea typeface="Sharp Sans Semibold" pitchFamily="2" charset="0"/>
                <a:cs typeface="Sharp Sans Semibold" pitchFamily="2" charset="0"/>
              </a:rPr>
              <a:t>What comes next? …</a:t>
            </a:r>
          </a:p>
        </p:txBody>
      </p:sp>
    </p:spTree>
    <p:extLst>
      <p:ext uri="{BB962C8B-B14F-4D97-AF65-F5344CB8AC3E}">
        <p14:creationId xmlns:p14="http://schemas.microsoft.com/office/powerpoint/2010/main" val="3667834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99BBE-66EB-B3A9-ECB0-C92315F0B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C3F668DD-7BEF-5AA2-8523-D6D0B780F2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60289"/>
            <a:ext cx="12192000" cy="10739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D30633-7D72-4283-CDA0-332D77DB7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4" y="476251"/>
            <a:ext cx="7734301" cy="786144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364248"/>
                </a:solidFill>
              </a:rPr>
              <a:t>Implementation Roadmap &amp; Metrics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43770D-A248-413A-AC4D-AD7FA3ACA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@ 2025 John Beatty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58F51D-1CDB-F18B-E152-2CFA60C3D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79A82-588E-4387-9042-64AA7AE440A7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A5F901F-844C-3F01-6CF6-81A15D8B9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855791"/>
              </p:ext>
            </p:extLst>
          </p:nvPr>
        </p:nvGraphicFramePr>
        <p:xfrm>
          <a:off x="838200" y="1550187"/>
          <a:ext cx="10515603" cy="2702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35738">
                  <a:extLst>
                    <a:ext uri="{9D8B030D-6E8A-4147-A177-3AD203B41FA5}">
                      <a16:colId xmlns:a16="http://schemas.microsoft.com/office/drawing/2014/main" val="3123927097"/>
                    </a:ext>
                  </a:extLst>
                </a:gridCol>
                <a:gridCol w="1455973">
                  <a:extLst>
                    <a:ext uri="{9D8B030D-6E8A-4147-A177-3AD203B41FA5}">
                      <a16:colId xmlns:a16="http://schemas.microsoft.com/office/drawing/2014/main" val="3421376876"/>
                    </a:ext>
                  </a:extLst>
                </a:gridCol>
                <a:gridCol w="1455973">
                  <a:extLst>
                    <a:ext uri="{9D8B030D-6E8A-4147-A177-3AD203B41FA5}">
                      <a16:colId xmlns:a16="http://schemas.microsoft.com/office/drawing/2014/main" val="3664131360"/>
                    </a:ext>
                  </a:extLst>
                </a:gridCol>
                <a:gridCol w="1455973">
                  <a:extLst>
                    <a:ext uri="{9D8B030D-6E8A-4147-A177-3AD203B41FA5}">
                      <a16:colId xmlns:a16="http://schemas.microsoft.com/office/drawing/2014/main" val="2018476435"/>
                    </a:ext>
                  </a:extLst>
                </a:gridCol>
                <a:gridCol w="1455973">
                  <a:extLst>
                    <a:ext uri="{9D8B030D-6E8A-4147-A177-3AD203B41FA5}">
                      <a16:colId xmlns:a16="http://schemas.microsoft.com/office/drawing/2014/main" val="2763726790"/>
                    </a:ext>
                  </a:extLst>
                </a:gridCol>
                <a:gridCol w="1455973">
                  <a:extLst>
                    <a:ext uri="{9D8B030D-6E8A-4147-A177-3AD203B41FA5}">
                      <a16:colId xmlns:a16="http://schemas.microsoft.com/office/drawing/2014/main" val="1799082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Sharp Sans Semibold" pitchFamily="2" charset="0"/>
                          <a:ea typeface="Sharp Sans Semibold" pitchFamily="2" charset="0"/>
                          <a:cs typeface="Sharp Sans Semibold" pitchFamily="2" charset="0"/>
                        </a:rPr>
                        <a:t>Phase / Description</a:t>
                      </a:r>
                    </a:p>
                  </a:txBody>
                  <a:tcPr>
                    <a:solidFill>
                      <a:srgbClr val="3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harp Sans Semibold" pitchFamily="2" charset="0"/>
                          <a:ea typeface="Sharp Sans Semibold" pitchFamily="2" charset="0"/>
                          <a:cs typeface="Sharp Sans Semibold" pitchFamily="2" charset="0"/>
                        </a:rPr>
                        <a:t>Q1</a:t>
                      </a:r>
                    </a:p>
                  </a:txBody>
                  <a:tcPr>
                    <a:solidFill>
                      <a:srgbClr val="3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harp Sans Semibold" pitchFamily="2" charset="0"/>
                          <a:ea typeface="Sharp Sans Semibold" pitchFamily="2" charset="0"/>
                          <a:cs typeface="Sharp Sans Semibold" pitchFamily="2" charset="0"/>
                        </a:rPr>
                        <a:t>Q2</a:t>
                      </a:r>
                    </a:p>
                  </a:txBody>
                  <a:tcPr>
                    <a:solidFill>
                      <a:srgbClr val="3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harp Sans Semibold" pitchFamily="2" charset="0"/>
                          <a:ea typeface="Sharp Sans Semibold" pitchFamily="2" charset="0"/>
                          <a:cs typeface="Sharp Sans Semibold" pitchFamily="2" charset="0"/>
                        </a:rPr>
                        <a:t>Q3</a:t>
                      </a:r>
                    </a:p>
                  </a:txBody>
                  <a:tcPr>
                    <a:solidFill>
                      <a:srgbClr val="3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harp Sans Semibold" pitchFamily="2" charset="0"/>
                          <a:ea typeface="Sharp Sans Semibold" pitchFamily="2" charset="0"/>
                          <a:cs typeface="Sharp Sans Semibold" pitchFamily="2" charset="0"/>
                        </a:rPr>
                        <a:t>Q4</a:t>
                      </a:r>
                    </a:p>
                  </a:txBody>
                  <a:tcPr>
                    <a:solidFill>
                      <a:srgbClr val="3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harp Sans Semibold" pitchFamily="2" charset="0"/>
                          <a:ea typeface="Sharp Sans Semibold" pitchFamily="2" charset="0"/>
                          <a:cs typeface="Sharp Sans Semibold" pitchFamily="2" charset="0"/>
                        </a:rPr>
                        <a:t>2026</a:t>
                      </a:r>
                    </a:p>
                  </a:txBody>
                  <a:tcPr>
                    <a:solidFill>
                      <a:srgbClr val="364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742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Sharp Sans" pitchFamily="2" charset="0"/>
                          <a:ea typeface="Sharp Sans" pitchFamily="2" charset="0"/>
                          <a:cs typeface="Sharp Sans" pitchFamily="2" charset="0"/>
                        </a:rPr>
                        <a:t>Planning</a:t>
                      </a:r>
                      <a:r>
                        <a:rPr lang="en-US" sz="1500" dirty="0">
                          <a:latin typeface="Sharp Sans" pitchFamily="2" charset="0"/>
                          <a:ea typeface="Sharp Sans" pitchFamily="2" charset="0"/>
                          <a:cs typeface="Sharp Sans" pitchFamily="2" charset="0"/>
                        </a:rPr>
                        <a:t>: Finalize strategy, assign roles, and secure 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Sharp Sans Semibold" pitchFamily="2" charset="0"/>
                        <a:ea typeface="Sharp Sans Semibold" pitchFamily="2" charset="0"/>
                        <a:cs typeface="Sharp Sans Semibol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Sharp Sans Semibold" pitchFamily="2" charset="0"/>
                        <a:ea typeface="Sharp Sans Semibold" pitchFamily="2" charset="0"/>
                        <a:cs typeface="Sharp Sans Semibol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Sharp Sans Semibold" pitchFamily="2" charset="0"/>
                        <a:ea typeface="Sharp Sans Semibold" pitchFamily="2" charset="0"/>
                        <a:cs typeface="Sharp Sans Semibol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Sharp Sans Semibold" pitchFamily="2" charset="0"/>
                        <a:ea typeface="Sharp Sans Semibold" pitchFamily="2" charset="0"/>
                        <a:cs typeface="Sharp Sans Semibol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Sharp Sans Semibold" pitchFamily="2" charset="0"/>
                        <a:ea typeface="Sharp Sans Semibold" pitchFamily="2" charset="0"/>
                        <a:cs typeface="Sharp Sans Semibold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354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Sharp Sans" pitchFamily="2" charset="0"/>
                          <a:ea typeface="Sharp Sans" pitchFamily="2" charset="0"/>
                          <a:cs typeface="Sharp Sans" pitchFamily="2" charset="0"/>
                        </a:rPr>
                        <a:t>Execution</a:t>
                      </a:r>
                      <a:r>
                        <a:rPr lang="en-US" sz="1500" dirty="0">
                          <a:latin typeface="Sharp Sans" pitchFamily="2" charset="0"/>
                          <a:ea typeface="Sharp Sans" pitchFamily="2" charset="0"/>
                          <a:cs typeface="Sharp Sans" pitchFamily="2" charset="0"/>
                        </a:rPr>
                        <a:t>: Deploy technologies, conduct training, and update policies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Sharp Sans Semibold" pitchFamily="2" charset="0"/>
                        <a:ea typeface="Sharp Sans Semibold" pitchFamily="2" charset="0"/>
                        <a:cs typeface="Sharp Sans Semibol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Sharp Sans Semibold" pitchFamily="2" charset="0"/>
                        <a:ea typeface="Sharp Sans Semibold" pitchFamily="2" charset="0"/>
                        <a:cs typeface="Sharp Sans Semibol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Sharp Sans Semibold" pitchFamily="2" charset="0"/>
                        <a:ea typeface="Sharp Sans Semibold" pitchFamily="2" charset="0"/>
                        <a:cs typeface="Sharp Sans Semibol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Sharp Sans Semibold" pitchFamily="2" charset="0"/>
                        <a:ea typeface="Sharp Sans Semibold" pitchFamily="2" charset="0"/>
                        <a:cs typeface="Sharp Sans Semibol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Sharp Sans Semibold" pitchFamily="2" charset="0"/>
                        <a:ea typeface="Sharp Sans Semibold" pitchFamily="2" charset="0"/>
                        <a:cs typeface="Sharp Sans Semibold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268183"/>
                  </a:ext>
                </a:extLst>
              </a:tr>
              <a:tr h="401593"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Sharp Sans" pitchFamily="2" charset="0"/>
                          <a:ea typeface="Sharp Sans" pitchFamily="2" charset="0"/>
                          <a:cs typeface="Sharp Sans" pitchFamily="2" charset="0"/>
                        </a:rPr>
                        <a:t>Monitoring</a:t>
                      </a:r>
                      <a:r>
                        <a:rPr lang="en-US" sz="1500" dirty="0">
                          <a:latin typeface="Sharp Sans" pitchFamily="2" charset="0"/>
                          <a:ea typeface="Sharp Sans" pitchFamily="2" charset="0"/>
                          <a:cs typeface="Sharp Sans" pitchFamily="2" charset="0"/>
                        </a:rPr>
                        <a:t>: Continuously assess risks and refine processes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Sharp Sans Semibold" pitchFamily="2" charset="0"/>
                        <a:ea typeface="Sharp Sans Semibold" pitchFamily="2" charset="0"/>
                        <a:cs typeface="Sharp Sans Semibol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Sharp Sans Semibold" pitchFamily="2" charset="0"/>
                        <a:ea typeface="Sharp Sans Semibold" pitchFamily="2" charset="0"/>
                        <a:cs typeface="Sharp Sans Semibol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Sharp Sans Semibold" pitchFamily="2" charset="0"/>
                        <a:ea typeface="Sharp Sans Semibold" pitchFamily="2" charset="0"/>
                        <a:cs typeface="Sharp Sans Semibol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Sharp Sans Semibold" pitchFamily="2" charset="0"/>
                        <a:ea typeface="Sharp Sans Semibold" pitchFamily="2" charset="0"/>
                        <a:cs typeface="Sharp Sans Semibol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Sharp Sans Semibold" pitchFamily="2" charset="0"/>
                        <a:ea typeface="Sharp Sans Semibold" pitchFamily="2" charset="0"/>
                        <a:cs typeface="Sharp Sans Semibold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674121"/>
                  </a:ext>
                </a:extLst>
              </a:tr>
            </a:tbl>
          </a:graphicData>
        </a:graphic>
      </p:graphicFrame>
      <p:sp>
        <p:nvSpPr>
          <p:cNvPr id="6" name="Arrow: Chevron 5">
            <a:extLst>
              <a:ext uri="{FF2B5EF4-FFF2-40B4-BE49-F238E27FC236}">
                <a16:creationId xmlns:a16="http://schemas.microsoft.com/office/drawing/2014/main" id="{F6F6E8EB-2A6E-A190-5BBE-C6F23D9223A1}"/>
              </a:ext>
            </a:extLst>
          </p:cNvPr>
          <p:cNvSpPr/>
          <p:nvPr/>
        </p:nvSpPr>
        <p:spPr>
          <a:xfrm>
            <a:off x="4091708" y="1948874"/>
            <a:ext cx="1403928" cy="737509"/>
          </a:xfrm>
          <a:prstGeom prst="chevron">
            <a:avLst/>
          </a:prstGeom>
          <a:solidFill>
            <a:srgbClr val="007E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ABC2BD77-60CF-1C47-2B98-1566042DFFED}"/>
              </a:ext>
            </a:extLst>
          </p:cNvPr>
          <p:cNvSpPr/>
          <p:nvPr/>
        </p:nvSpPr>
        <p:spPr>
          <a:xfrm>
            <a:off x="4989945" y="2720518"/>
            <a:ext cx="2387602" cy="737509"/>
          </a:xfrm>
          <a:prstGeom prst="chevron">
            <a:avLst/>
          </a:prstGeom>
          <a:solidFill>
            <a:srgbClr val="D564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6DDF501F-727C-97E5-00A2-AE1C775BB584}"/>
              </a:ext>
            </a:extLst>
          </p:cNvPr>
          <p:cNvSpPr/>
          <p:nvPr/>
        </p:nvSpPr>
        <p:spPr>
          <a:xfrm>
            <a:off x="6693724" y="3495791"/>
            <a:ext cx="3666838" cy="737509"/>
          </a:xfrm>
          <a:prstGeom prst="chevron">
            <a:avLst/>
          </a:prstGeom>
          <a:solidFill>
            <a:srgbClr val="1562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53987CF-24F9-6322-951C-7D93A5E52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058902"/>
              </p:ext>
            </p:extLst>
          </p:nvPr>
        </p:nvGraphicFramePr>
        <p:xfrm>
          <a:off x="838196" y="4346034"/>
          <a:ext cx="10515602" cy="151411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534724">
                  <a:extLst>
                    <a:ext uri="{9D8B030D-6E8A-4147-A177-3AD203B41FA5}">
                      <a16:colId xmlns:a16="http://schemas.microsoft.com/office/drawing/2014/main" val="3123927097"/>
                    </a:ext>
                  </a:extLst>
                </a:gridCol>
                <a:gridCol w="2490439">
                  <a:extLst>
                    <a:ext uri="{9D8B030D-6E8A-4147-A177-3AD203B41FA5}">
                      <a16:colId xmlns:a16="http://schemas.microsoft.com/office/drawing/2014/main" val="3421376876"/>
                    </a:ext>
                  </a:extLst>
                </a:gridCol>
                <a:gridCol w="2490439">
                  <a:extLst>
                    <a:ext uri="{9D8B030D-6E8A-4147-A177-3AD203B41FA5}">
                      <a16:colId xmlns:a16="http://schemas.microsoft.com/office/drawing/2014/main" val="36641313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Sharp Sans Semibold" pitchFamily="2" charset="0"/>
                          <a:ea typeface="Sharp Sans Semibold" pitchFamily="2" charset="0"/>
                          <a:cs typeface="Sharp Sans Semibold" pitchFamily="2" charset="0"/>
                        </a:rPr>
                        <a:t>Metric</a:t>
                      </a:r>
                    </a:p>
                  </a:txBody>
                  <a:tcPr>
                    <a:solidFill>
                      <a:srgbClr val="3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harp Sans Semibold" pitchFamily="2" charset="0"/>
                          <a:ea typeface="Sharp Sans Semibold" pitchFamily="2" charset="0"/>
                          <a:cs typeface="Sharp Sans Semibold" pitchFamily="2" charset="0"/>
                        </a:rPr>
                        <a:t>Baseline </a:t>
                      </a:r>
                    </a:p>
                  </a:txBody>
                  <a:tcPr>
                    <a:solidFill>
                      <a:srgbClr val="3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harp Sans Semibold" pitchFamily="2" charset="0"/>
                          <a:ea typeface="Sharp Sans Semibold" pitchFamily="2" charset="0"/>
                          <a:cs typeface="Sharp Sans Semibold" pitchFamily="2" charset="0"/>
                        </a:rPr>
                        <a:t>Target</a:t>
                      </a:r>
                    </a:p>
                  </a:txBody>
                  <a:tcPr>
                    <a:solidFill>
                      <a:srgbClr val="364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742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Sharp Sans" pitchFamily="2" charset="0"/>
                          <a:ea typeface="Sharp Sans" pitchFamily="2" charset="0"/>
                          <a:cs typeface="Sharp Sans" pitchFamily="2" charset="0"/>
                        </a:rPr>
                        <a:t>50% reduction in security incidents</a:t>
                      </a:r>
                      <a:endParaRPr lang="en-US" sz="1500" dirty="0">
                        <a:latin typeface="Sharp Sans" pitchFamily="2" charset="0"/>
                        <a:ea typeface="Sharp Sans" pitchFamily="2" charset="0"/>
                        <a:cs typeface="Sharp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Sharp Sans Semibold" pitchFamily="2" charset="0"/>
                          <a:ea typeface="Sharp Sans Semibold" pitchFamily="2" charset="0"/>
                          <a:cs typeface="Sharp Sans Semibold" pitchFamily="2" charset="0"/>
                        </a:rPr>
                        <a:t>20 incidents/month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Sharp Sans Semibold" pitchFamily="2" charset="0"/>
                          <a:ea typeface="Sharp Sans Semibold" pitchFamily="2" charset="0"/>
                          <a:cs typeface="Sharp Sans Semibold" pitchFamily="2" charset="0"/>
                        </a:rPr>
                        <a:t>10 incidents/month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354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Sharp Sans" pitchFamily="2" charset="0"/>
                          <a:ea typeface="Sharp Sans" pitchFamily="2" charset="0"/>
                          <a:cs typeface="Sharp Sans" pitchFamily="2" charset="0"/>
                        </a:rPr>
                        <a:t>95% compliance audit scores </a:t>
                      </a:r>
                      <a:endParaRPr lang="en-US" sz="1500" dirty="0">
                        <a:latin typeface="Sharp Sans" pitchFamily="2" charset="0"/>
                        <a:ea typeface="Sharp Sans" pitchFamily="2" charset="0"/>
                        <a:cs typeface="Sharp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Sharp Sans Semibold" pitchFamily="2" charset="0"/>
                          <a:ea typeface="Sharp Sans Semibold" pitchFamily="2" charset="0"/>
                          <a:cs typeface="Sharp Sans Semibold" pitchFamily="2" charset="0"/>
                        </a:rP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Sharp Sans Semibold" pitchFamily="2" charset="0"/>
                          <a:ea typeface="Sharp Sans Semibold" pitchFamily="2" charset="0"/>
                          <a:cs typeface="Sharp Sans Semibold" pitchFamily="2" charset="0"/>
                        </a:rPr>
                        <a:t>95%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268183"/>
                  </a:ext>
                </a:extLst>
              </a:tr>
              <a:tr h="401593"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Sharp Sans" pitchFamily="2" charset="0"/>
                          <a:ea typeface="Sharp Sans" pitchFamily="2" charset="0"/>
                          <a:cs typeface="Sharp Sans" pitchFamily="2" charset="0"/>
                        </a:rPr>
                        <a:t>100% employee training completion </a:t>
                      </a:r>
                      <a:endParaRPr lang="en-US" sz="1500" dirty="0">
                        <a:latin typeface="Sharp Sans" pitchFamily="2" charset="0"/>
                        <a:ea typeface="Sharp Sans" pitchFamily="2" charset="0"/>
                        <a:cs typeface="Sharp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Sharp Sans Semibold" pitchFamily="2" charset="0"/>
                          <a:ea typeface="Sharp Sans Semibold" pitchFamily="2" charset="0"/>
                          <a:cs typeface="Sharp Sans Semibold" pitchFamily="2" charset="0"/>
                        </a:rPr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Sharp Sans Semibold" pitchFamily="2" charset="0"/>
                          <a:ea typeface="Sharp Sans Semibold" pitchFamily="2" charset="0"/>
                          <a:cs typeface="Sharp Sans Semibold" pitchFamily="2" charset="0"/>
                        </a:rPr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674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4245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</TotalTime>
  <Words>337</Words>
  <Application>Microsoft Office PowerPoint</Application>
  <PresentationFormat>Widescreen</PresentationFormat>
  <Paragraphs>76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Arial</vt:lpstr>
      <vt:lpstr>Sharp Sans</vt:lpstr>
      <vt:lpstr>Sharp Sans Extrabold</vt:lpstr>
      <vt:lpstr>Sharp Sans Medium</vt:lpstr>
      <vt:lpstr>Sharp Sans Semibold</vt:lpstr>
      <vt:lpstr>Office Theme</vt:lpstr>
      <vt:lpstr>Empowering you to  live well</vt:lpstr>
      <vt:lpstr>Agenda</vt:lpstr>
      <vt:lpstr>Executive summary</vt:lpstr>
      <vt:lpstr>Current IT Risk Landscape</vt:lpstr>
      <vt:lpstr>Strategic Goals &amp; Framework</vt:lpstr>
      <vt:lpstr>Key Initiatives &amp; Tech Investments</vt:lpstr>
      <vt:lpstr>Implementation Roadmap &amp; Metrics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Beatty</dc:creator>
  <cp:lastModifiedBy>John Beatty</cp:lastModifiedBy>
  <cp:revision>4</cp:revision>
  <dcterms:created xsi:type="dcterms:W3CDTF">2025-02-04T13:53:07Z</dcterms:created>
  <dcterms:modified xsi:type="dcterms:W3CDTF">2025-02-04T22:27:59Z</dcterms:modified>
</cp:coreProperties>
</file>